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414020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C1AF"/>
    <a:srgbClr val="C1E5EC"/>
    <a:srgbClr val="3299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68" autoAdjust="0"/>
    <p:restoredTop sz="95039" autoAdjust="0"/>
  </p:normalViewPr>
  <p:slideViewPr>
    <p:cSldViewPr snapToGrid="0">
      <p:cViewPr>
        <p:scale>
          <a:sx n="100" d="100"/>
          <a:sy n="100" d="100"/>
        </p:scale>
        <p:origin x="2506" y="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748242"/>
            <a:ext cx="3519170" cy="1591733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401359"/>
            <a:ext cx="3105150" cy="1103841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71253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4604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139826"/>
            <a:ext cx="3570923" cy="1901825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059643"/>
            <a:ext cx="3570923" cy="1000125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6214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217083"/>
            <a:ext cx="1759585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217083"/>
            <a:ext cx="1759585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7258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43418"/>
            <a:ext cx="3570923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120775"/>
            <a:ext cx="1751498" cy="549275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670050"/>
            <a:ext cx="1751498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120775"/>
            <a:ext cx="1760124" cy="549275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670050"/>
            <a:ext cx="1760124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2887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00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335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04800"/>
            <a:ext cx="1335322" cy="106680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658285"/>
            <a:ext cx="2095976" cy="3249083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371600"/>
            <a:ext cx="1335322" cy="254105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8432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04800"/>
            <a:ext cx="1335322" cy="1066800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658285"/>
            <a:ext cx="2095976" cy="3249083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371600"/>
            <a:ext cx="1335322" cy="2541059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599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98635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43417"/>
            <a:ext cx="892731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43417"/>
            <a:ext cx="2626439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5927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43418"/>
            <a:ext cx="3570923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217083"/>
            <a:ext cx="3570923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237568"/>
            <a:ext cx="931545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990FC2-CCE9-4CA4-B1F5-E0AE66462007}" type="datetimeFigureOut">
              <a:rPr lang="it-IT" smtClean="0"/>
              <a:t>22/01/2026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237568"/>
            <a:ext cx="1397318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237568"/>
            <a:ext cx="931545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07D45F-73A5-454C-8924-6DBFEB8F5DC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6456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87">
            <a:extLst>
              <a:ext uri="{FF2B5EF4-FFF2-40B4-BE49-F238E27FC236}">
                <a16:creationId xmlns:a16="http://schemas.microsoft.com/office/drawing/2014/main" id="{4FF56070-D238-C224-AA97-E058A81BE633}"/>
              </a:ext>
            </a:extLst>
          </p:cNvPr>
          <p:cNvSpPr txBox="1"/>
          <p:nvPr/>
        </p:nvSpPr>
        <p:spPr>
          <a:xfrm>
            <a:off x="-83152" y="-65388"/>
            <a:ext cx="42068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Rainfall-based predictions of areas at risk of flash floods</a:t>
            </a:r>
          </a:p>
          <a:p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Defining yes- and non-events</a:t>
            </a:r>
            <a:endParaRPr lang="en-GB" sz="1000" u="sng" dirty="0">
              <a:solidFill>
                <a:srgbClr val="333333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BA45A38-88EB-09EC-D8FE-F556596A2A90}"/>
              </a:ext>
            </a:extLst>
          </p:cNvPr>
          <p:cNvGrpSpPr/>
          <p:nvPr/>
        </p:nvGrpSpPr>
        <p:grpSpPr>
          <a:xfrm>
            <a:off x="1071391" y="419648"/>
            <a:ext cx="1927275" cy="553998"/>
            <a:chOff x="1262387" y="701588"/>
            <a:chExt cx="1927275" cy="55399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BB2AAB9-265F-B714-DBA2-FF13C3B6D595}"/>
                </a:ext>
              </a:extLst>
            </p:cNvPr>
            <p:cNvSpPr txBox="1"/>
            <p:nvPr/>
          </p:nvSpPr>
          <p:spPr>
            <a:xfrm>
              <a:off x="1811110" y="701588"/>
              <a:ext cx="1378552" cy="553998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ERA5-ecPoint</a:t>
              </a:r>
            </a:p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rainfall forecasts</a:t>
              </a:r>
            </a:p>
            <a:p>
              <a:pPr algn="ctr"/>
              <a:r>
                <a:rPr lang="en-US" sz="1000" dirty="0">
                  <a:solidFill>
                    <a:srgbClr val="333333"/>
                  </a:solidFill>
                  <a:latin typeface="Calibri Light" panose="020F0302020204030204" pitchFamily="34" charset="0"/>
                  <a:cs typeface="Calibri Light" panose="020F0302020204030204" pitchFamily="34" charset="0"/>
                </a:rPr>
                <a:t>(mm/24h, point-scale)</a:t>
              </a:r>
            </a:p>
          </p:txBody>
        </p:sp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9DB3C0CB-F121-AB89-6F90-0A67900A97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62387" y="701588"/>
              <a:ext cx="630000" cy="540000"/>
            </a:xfrm>
            <a:prstGeom prst="rect">
              <a:avLst/>
            </a:prstGeom>
          </p:spPr>
        </p:pic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5EA3B3E5-BDE1-8300-691A-8B995A0278E4}"/>
              </a:ext>
            </a:extLst>
          </p:cNvPr>
          <p:cNvSpPr/>
          <p:nvPr/>
        </p:nvSpPr>
        <p:spPr>
          <a:xfrm>
            <a:off x="990600" y="419648"/>
            <a:ext cx="1997417" cy="553998"/>
          </a:xfrm>
          <a:prstGeom prst="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994F828A-EEDA-8FF4-1317-E8AF2D093D97}"/>
              </a:ext>
            </a:extLst>
          </p:cNvPr>
          <p:cNvCxnSpPr>
            <a:cxnSpLocks/>
          </p:cNvCxnSpPr>
          <p:nvPr/>
        </p:nvCxnSpPr>
        <p:spPr>
          <a:xfrm>
            <a:off x="2030945" y="973646"/>
            <a:ext cx="0" cy="27000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Diamond 93">
            <a:extLst>
              <a:ext uri="{FF2B5EF4-FFF2-40B4-BE49-F238E27FC236}">
                <a16:creationId xmlns:a16="http://schemas.microsoft.com/office/drawing/2014/main" id="{A15B6D45-79F5-B9F8-C9E6-C2B4A302D2EA}"/>
              </a:ext>
            </a:extLst>
          </p:cNvPr>
          <p:cNvSpPr/>
          <p:nvPr/>
        </p:nvSpPr>
        <p:spPr>
          <a:xfrm>
            <a:off x="1495028" y="1229648"/>
            <a:ext cx="1080000" cy="881092"/>
          </a:xfrm>
          <a:prstGeom prst="diamond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12DC1C5-1801-3D4B-2A03-DAB145A118F6}"/>
              </a:ext>
            </a:extLst>
          </p:cNvPr>
          <p:cNvSpPr txBox="1"/>
          <p:nvPr/>
        </p:nvSpPr>
        <p:spPr>
          <a:xfrm>
            <a:off x="1345752" y="1476564"/>
            <a:ext cx="1378552" cy="400110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Is the forecast</a:t>
            </a:r>
          </a:p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&gt;= threshold</a:t>
            </a: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DBA8D6-574F-BFA7-7C61-9430A7E58D71}"/>
              </a:ext>
            </a:extLst>
          </p:cNvPr>
          <p:cNvGrpSpPr/>
          <p:nvPr/>
        </p:nvGrpSpPr>
        <p:grpSpPr>
          <a:xfrm>
            <a:off x="990600" y="1668999"/>
            <a:ext cx="504428" cy="270000"/>
            <a:chOff x="990600" y="1829019"/>
            <a:chExt cx="504428" cy="270000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1AEF2FB-B8B7-FD51-6580-D8EE648BEC3C}"/>
                </a:ext>
              </a:extLst>
            </p:cNvPr>
            <p:cNvCxnSpPr/>
            <p:nvPr/>
          </p:nvCxnSpPr>
          <p:spPr>
            <a:xfrm flipH="1">
              <a:off x="990600" y="1830214"/>
              <a:ext cx="504428" cy="0"/>
            </a:xfrm>
            <a:prstGeom prst="line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3299449E-5119-A4D6-3875-32AB3FABB6E3}"/>
                </a:ext>
              </a:extLst>
            </p:cNvPr>
            <p:cNvCxnSpPr>
              <a:cxnSpLocks/>
            </p:cNvCxnSpPr>
            <p:nvPr/>
          </p:nvCxnSpPr>
          <p:spPr>
            <a:xfrm>
              <a:off x="990600" y="1829019"/>
              <a:ext cx="0" cy="270000"/>
            </a:xfrm>
            <a:prstGeom prst="straightConnector1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0DC0CBC-1589-645C-A091-E3BCB3E252AB}"/>
              </a:ext>
            </a:extLst>
          </p:cNvPr>
          <p:cNvGrpSpPr/>
          <p:nvPr/>
        </p:nvGrpSpPr>
        <p:grpSpPr>
          <a:xfrm flipH="1">
            <a:off x="2561296" y="1676619"/>
            <a:ext cx="504428" cy="270000"/>
            <a:chOff x="990600" y="1829019"/>
            <a:chExt cx="504428" cy="270000"/>
          </a:xfrm>
        </p:grpSpPr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9580AA1-A4FB-6BA6-E7AE-1F2DF9BCC18F}"/>
                </a:ext>
              </a:extLst>
            </p:cNvPr>
            <p:cNvCxnSpPr/>
            <p:nvPr/>
          </p:nvCxnSpPr>
          <p:spPr>
            <a:xfrm flipH="1">
              <a:off x="990600" y="1830214"/>
              <a:ext cx="504428" cy="0"/>
            </a:xfrm>
            <a:prstGeom prst="line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EFA8F58F-F6C2-9656-2B09-A5ED3D712B43}"/>
                </a:ext>
              </a:extLst>
            </p:cNvPr>
            <p:cNvCxnSpPr>
              <a:cxnSpLocks/>
            </p:cNvCxnSpPr>
            <p:nvPr/>
          </p:nvCxnSpPr>
          <p:spPr>
            <a:xfrm>
              <a:off x="990600" y="1829019"/>
              <a:ext cx="0" cy="270000"/>
            </a:xfrm>
            <a:prstGeom prst="straightConnector1">
              <a:avLst/>
            </a:prstGeom>
            <a:ln w="3175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AEF2F405-62A6-9184-E2DA-F8586E4DAAA1}"/>
              </a:ext>
            </a:extLst>
          </p:cNvPr>
          <p:cNvSpPr txBox="1"/>
          <p:nvPr/>
        </p:nvSpPr>
        <p:spPr>
          <a:xfrm>
            <a:off x="396600" y="1910964"/>
            <a:ext cx="1188000" cy="615553"/>
          </a:xfrm>
          <a:prstGeom prst="rect">
            <a:avLst/>
          </a:prstGeom>
          <a:solidFill>
            <a:srgbClr val="DBC1AF"/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Non-event</a:t>
            </a:r>
          </a:p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(no flash flood risk)</a:t>
            </a:r>
          </a:p>
          <a:p>
            <a:pPr algn="ctr"/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AC1E00C-7CC8-E558-16F9-CBB16592A278}"/>
              </a:ext>
            </a:extLst>
          </p:cNvPr>
          <p:cNvSpPr txBox="1"/>
          <p:nvPr/>
        </p:nvSpPr>
        <p:spPr>
          <a:xfrm>
            <a:off x="1051934" y="1455507"/>
            <a:ext cx="409203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NO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2C60F2E-5AEC-FD98-E016-93A8494C37D8}"/>
              </a:ext>
            </a:extLst>
          </p:cNvPr>
          <p:cNvSpPr txBox="1"/>
          <p:nvPr/>
        </p:nvSpPr>
        <p:spPr>
          <a:xfrm>
            <a:off x="2608237" y="1455507"/>
            <a:ext cx="409203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94E29AE-C474-3CCD-52C0-D085CCBD05CB}"/>
              </a:ext>
            </a:extLst>
          </p:cNvPr>
          <p:cNvSpPr txBox="1"/>
          <p:nvPr/>
        </p:nvSpPr>
        <p:spPr>
          <a:xfrm>
            <a:off x="2471724" y="1918522"/>
            <a:ext cx="1188000" cy="615553"/>
          </a:xfrm>
          <a:prstGeom prst="rect">
            <a:avLst/>
          </a:prstGeom>
          <a:solidFill>
            <a:srgbClr val="C1E5EC"/>
          </a:solidFill>
          <a:ln w="3175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Yes-event</a:t>
            </a:r>
          </a:p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(flash flood risk)</a:t>
            </a:r>
          </a:p>
          <a:p>
            <a:pPr algn="ctr"/>
            <a:r>
              <a:rPr lang="en-US" sz="1400" b="1" dirty="0">
                <a:solidFill>
                  <a:srgbClr val="32999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BE52EE0A-1373-B866-C4C7-77A5B2CB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56" y="3447517"/>
            <a:ext cx="2499577" cy="998307"/>
          </a:xfrm>
          <a:prstGeom prst="rect">
            <a:avLst/>
          </a:prstGeom>
        </p:spPr>
      </p:pic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D935352-A1CB-CD98-5B07-68B96108C511}"/>
              </a:ext>
            </a:extLst>
          </p:cNvPr>
          <p:cNvCxnSpPr>
            <a:cxnSpLocks/>
          </p:cNvCxnSpPr>
          <p:nvPr/>
        </p:nvCxnSpPr>
        <p:spPr>
          <a:xfrm rot="16200000">
            <a:off x="2932454" y="2669137"/>
            <a:ext cx="270000" cy="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88DFB1B9-2D33-4164-D9A3-A66D31087C2A}"/>
              </a:ext>
            </a:extLst>
          </p:cNvPr>
          <p:cNvCxnSpPr>
            <a:cxnSpLocks/>
          </p:cNvCxnSpPr>
          <p:nvPr/>
        </p:nvCxnSpPr>
        <p:spPr>
          <a:xfrm flipH="1">
            <a:off x="2030945" y="2813894"/>
            <a:ext cx="0" cy="27000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58CED55-193B-AED5-D807-6ACCF9F7F9B2}"/>
              </a:ext>
            </a:extLst>
          </p:cNvPr>
          <p:cNvCxnSpPr>
            <a:cxnSpLocks/>
          </p:cNvCxnSpPr>
          <p:nvPr/>
        </p:nvCxnSpPr>
        <p:spPr>
          <a:xfrm rot="16200000">
            <a:off x="859814" y="2669137"/>
            <a:ext cx="270000" cy="0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1AA77C9-2BA6-9449-258D-DEDF65B8D8A9}"/>
              </a:ext>
            </a:extLst>
          </p:cNvPr>
          <p:cNvCxnSpPr>
            <a:cxnSpLocks/>
          </p:cNvCxnSpPr>
          <p:nvPr/>
        </p:nvCxnSpPr>
        <p:spPr>
          <a:xfrm flipV="1">
            <a:off x="998220" y="2804137"/>
            <a:ext cx="2067504" cy="9757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041A462-13E8-E68B-ED83-34E69527A7C3}"/>
              </a:ext>
            </a:extLst>
          </p:cNvPr>
          <p:cNvSpPr txBox="1"/>
          <p:nvPr/>
        </p:nvSpPr>
        <p:spPr>
          <a:xfrm>
            <a:off x="781153" y="3069840"/>
            <a:ext cx="2499577" cy="400110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Rainfall-based predictions of areas at risk of flash floods (binary field)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ABB75E4-DC24-C31B-F4F0-D6035B2DC0CC}"/>
              </a:ext>
            </a:extLst>
          </p:cNvPr>
          <p:cNvSpPr/>
          <p:nvPr/>
        </p:nvSpPr>
        <p:spPr>
          <a:xfrm>
            <a:off x="723899" y="3078999"/>
            <a:ext cx="2635145" cy="1424422"/>
          </a:xfrm>
          <a:prstGeom prst="rect">
            <a:avLst/>
          </a:prstGeom>
          <a:noFill/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217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58</Words>
  <Application>Microsoft Office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Maria Pillosu</dc:creator>
  <cp:lastModifiedBy>Fatima Maria Pillosu</cp:lastModifiedBy>
  <cp:revision>1</cp:revision>
  <dcterms:created xsi:type="dcterms:W3CDTF">2026-01-22T15:09:22Z</dcterms:created>
  <dcterms:modified xsi:type="dcterms:W3CDTF">2026-01-22T15:31:25Z</dcterms:modified>
</cp:coreProperties>
</file>