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7" r:id="rId2"/>
  </p:sldIdLst>
  <p:sldSz cx="4140200" cy="1908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94660"/>
  </p:normalViewPr>
  <p:slideViewPr>
    <p:cSldViewPr snapToGrid="0">
      <p:cViewPr varScale="1">
        <p:scale>
          <a:sx n="356" d="100"/>
          <a:sy n="356" d="100"/>
        </p:scale>
        <p:origin x="37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modSld">
      <pc:chgData name="Fatima Pillosu" userId="a6295d4dc9e22643" providerId="LiveId" clId="{87453732-75AC-4426-B5D3-B7C69C2D4F54}" dt="2026-01-15T10:11:32.398" v="1" actId="20577"/>
      <pc:docMkLst>
        <pc:docMk/>
      </pc:docMkLst>
      <pc:sldChg chg="modSp mod">
        <pc:chgData name="Fatima Pillosu" userId="a6295d4dc9e22643" providerId="LiveId" clId="{87453732-75AC-4426-B5D3-B7C69C2D4F54}" dt="2026-01-15T10:11:32.398" v="1" actId="20577"/>
        <pc:sldMkLst>
          <pc:docMk/>
          <pc:sldMk cId="3020345181" sldId="257"/>
        </pc:sldMkLst>
        <pc:spChg chg="mod">
          <ac:chgData name="Fatima Pillosu" userId="a6295d4dc9e22643" providerId="LiveId" clId="{87453732-75AC-4426-B5D3-B7C69C2D4F54}" dt="2026-01-15T10:11:32.398" v="1" actId="20577"/>
          <ac:spMkLst>
            <pc:docMk/>
            <pc:sldMk cId="3020345181" sldId="257"/>
            <ac:spMk id="4" creationId="{BFB118F7-3AF0-A668-608B-98A47405975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525" y="312287"/>
            <a:ext cx="3105150" cy="664328"/>
          </a:xfrm>
        </p:spPr>
        <p:txBody>
          <a:bodyPr anchor="b"/>
          <a:lstStyle>
            <a:lvl1pPr algn="ctr">
              <a:defRPr sz="1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1002234"/>
            <a:ext cx="3105150" cy="460700"/>
          </a:xfrm>
        </p:spPr>
        <p:txBody>
          <a:bodyPr/>
          <a:lstStyle>
            <a:lvl1pPr marL="0" indent="0" algn="ctr">
              <a:buNone/>
              <a:defRPr sz="668"/>
            </a:lvl1pPr>
            <a:lvl2pPr marL="127193" indent="0" algn="ctr">
              <a:buNone/>
              <a:defRPr sz="556"/>
            </a:lvl2pPr>
            <a:lvl3pPr marL="254386" indent="0" algn="ctr">
              <a:buNone/>
              <a:defRPr sz="501"/>
            </a:lvl3pPr>
            <a:lvl4pPr marL="381579" indent="0" algn="ctr">
              <a:buNone/>
              <a:defRPr sz="445"/>
            </a:lvl4pPr>
            <a:lvl5pPr marL="508772" indent="0" algn="ctr">
              <a:buNone/>
              <a:defRPr sz="445"/>
            </a:lvl5pPr>
            <a:lvl6pPr marL="635965" indent="0" algn="ctr">
              <a:buNone/>
              <a:defRPr sz="445"/>
            </a:lvl6pPr>
            <a:lvl7pPr marL="763158" indent="0" algn="ctr">
              <a:buNone/>
              <a:defRPr sz="445"/>
            </a:lvl7pPr>
            <a:lvl8pPr marL="890351" indent="0" algn="ctr">
              <a:buNone/>
              <a:defRPr sz="445"/>
            </a:lvl8pPr>
            <a:lvl9pPr marL="1017544" indent="0" algn="ctr">
              <a:buNone/>
              <a:defRPr sz="44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622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45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475719"/>
            <a:ext cx="3570923" cy="793748"/>
          </a:xfrm>
        </p:spPr>
        <p:txBody>
          <a:bodyPr anchor="b"/>
          <a:lstStyle>
            <a:lvl1pPr>
              <a:defRPr sz="1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1276976"/>
            <a:ext cx="3570923" cy="417413"/>
          </a:xfrm>
        </p:spPr>
        <p:txBody>
          <a:bodyPr/>
          <a:lstStyle>
            <a:lvl1pPr marL="0" indent="0">
              <a:buNone/>
              <a:defRPr sz="668">
                <a:solidFill>
                  <a:schemeClr val="tx1">
                    <a:tint val="82000"/>
                  </a:schemeClr>
                </a:solidFill>
              </a:defRPr>
            </a:lvl1pPr>
            <a:lvl2pPr marL="127193" indent="0">
              <a:buNone/>
              <a:defRPr sz="556">
                <a:solidFill>
                  <a:schemeClr val="tx1">
                    <a:tint val="82000"/>
                  </a:schemeClr>
                </a:solidFill>
              </a:defRPr>
            </a:lvl2pPr>
            <a:lvl3pPr marL="254386" indent="0">
              <a:buNone/>
              <a:defRPr sz="501">
                <a:solidFill>
                  <a:schemeClr val="tx1">
                    <a:tint val="82000"/>
                  </a:schemeClr>
                </a:solidFill>
              </a:defRPr>
            </a:lvl3pPr>
            <a:lvl4pPr marL="381579" indent="0">
              <a:buNone/>
              <a:defRPr sz="445">
                <a:solidFill>
                  <a:schemeClr val="tx1">
                    <a:tint val="82000"/>
                  </a:schemeClr>
                </a:solidFill>
              </a:defRPr>
            </a:lvl4pPr>
            <a:lvl5pPr marL="508772" indent="0">
              <a:buNone/>
              <a:defRPr sz="445">
                <a:solidFill>
                  <a:schemeClr val="tx1">
                    <a:tint val="82000"/>
                  </a:schemeClr>
                </a:solidFill>
              </a:defRPr>
            </a:lvl5pPr>
            <a:lvl6pPr marL="635965" indent="0">
              <a:buNone/>
              <a:defRPr sz="445">
                <a:solidFill>
                  <a:schemeClr val="tx1">
                    <a:tint val="82000"/>
                  </a:schemeClr>
                </a:solidFill>
              </a:defRPr>
            </a:lvl6pPr>
            <a:lvl7pPr marL="763158" indent="0">
              <a:buNone/>
              <a:defRPr sz="445">
                <a:solidFill>
                  <a:schemeClr val="tx1">
                    <a:tint val="82000"/>
                  </a:schemeClr>
                </a:solidFill>
              </a:defRPr>
            </a:lvl7pPr>
            <a:lvl8pPr marL="890351" indent="0">
              <a:buNone/>
              <a:defRPr sz="445">
                <a:solidFill>
                  <a:schemeClr val="tx1">
                    <a:tint val="82000"/>
                  </a:schemeClr>
                </a:solidFill>
              </a:defRPr>
            </a:lvl8pPr>
            <a:lvl9pPr marL="1017544" indent="0">
              <a:buNone/>
              <a:defRPr sz="44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11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507963"/>
            <a:ext cx="1759585" cy="1210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507963"/>
            <a:ext cx="1759585" cy="1210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549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01593"/>
            <a:ext cx="3570923" cy="3688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8" y="467768"/>
            <a:ext cx="1751499" cy="229246"/>
          </a:xfrm>
        </p:spPr>
        <p:txBody>
          <a:bodyPr anchor="b"/>
          <a:lstStyle>
            <a:lvl1pPr marL="0" indent="0">
              <a:buNone/>
              <a:defRPr sz="668" b="1"/>
            </a:lvl1pPr>
            <a:lvl2pPr marL="127193" indent="0">
              <a:buNone/>
              <a:defRPr sz="556" b="1"/>
            </a:lvl2pPr>
            <a:lvl3pPr marL="254386" indent="0">
              <a:buNone/>
              <a:defRPr sz="501" b="1"/>
            </a:lvl3pPr>
            <a:lvl4pPr marL="381579" indent="0">
              <a:buNone/>
              <a:defRPr sz="445" b="1"/>
            </a:lvl4pPr>
            <a:lvl5pPr marL="508772" indent="0">
              <a:buNone/>
              <a:defRPr sz="445" b="1"/>
            </a:lvl5pPr>
            <a:lvl6pPr marL="635965" indent="0">
              <a:buNone/>
              <a:defRPr sz="445" b="1"/>
            </a:lvl6pPr>
            <a:lvl7pPr marL="763158" indent="0">
              <a:buNone/>
              <a:defRPr sz="445" b="1"/>
            </a:lvl7pPr>
            <a:lvl8pPr marL="890351" indent="0">
              <a:buNone/>
              <a:defRPr sz="445" b="1"/>
            </a:lvl8pPr>
            <a:lvl9pPr marL="1017544" indent="0">
              <a:buNone/>
              <a:defRPr sz="4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8" y="697014"/>
            <a:ext cx="1751499" cy="10252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6" y="467768"/>
            <a:ext cx="1760124" cy="229246"/>
          </a:xfrm>
        </p:spPr>
        <p:txBody>
          <a:bodyPr anchor="b"/>
          <a:lstStyle>
            <a:lvl1pPr marL="0" indent="0">
              <a:buNone/>
              <a:defRPr sz="668" b="1"/>
            </a:lvl1pPr>
            <a:lvl2pPr marL="127193" indent="0">
              <a:buNone/>
              <a:defRPr sz="556" b="1"/>
            </a:lvl2pPr>
            <a:lvl3pPr marL="254386" indent="0">
              <a:buNone/>
              <a:defRPr sz="501" b="1"/>
            </a:lvl3pPr>
            <a:lvl4pPr marL="381579" indent="0">
              <a:buNone/>
              <a:defRPr sz="445" b="1"/>
            </a:lvl4pPr>
            <a:lvl5pPr marL="508772" indent="0">
              <a:buNone/>
              <a:defRPr sz="445" b="1"/>
            </a:lvl5pPr>
            <a:lvl6pPr marL="635965" indent="0">
              <a:buNone/>
              <a:defRPr sz="445" b="1"/>
            </a:lvl6pPr>
            <a:lvl7pPr marL="763158" indent="0">
              <a:buNone/>
              <a:defRPr sz="445" b="1"/>
            </a:lvl7pPr>
            <a:lvl8pPr marL="890351" indent="0">
              <a:buNone/>
              <a:defRPr sz="445" b="1"/>
            </a:lvl8pPr>
            <a:lvl9pPr marL="1017544" indent="0">
              <a:buNone/>
              <a:defRPr sz="4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6" y="697014"/>
            <a:ext cx="1760124" cy="10252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334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969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939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27212"/>
            <a:ext cx="1335322" cy="445241"/>
          </a:xfrm>
        </p:spPr>
        <p:txBody>
          <a:bodyPr anchor="b"/>
          <a:lstStyle>
            <a:lvl1pPr>
              <a:defRPr sz="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274742"/>
            <a:ext cx="2095976" cy="1356041"/>
          </a:xfrm>
        </p:spPr>
        <p:txBody>
          <a:bodyPr/>
          <a:lstStyle>
            <a:lvl1pPr>
              <a:defRPr sz="890"/>
            </a:lvl1pPr>
            <a:lvl2pPr>
              <a:defRPr sz="779"/>
            </a:lvl2pPr>
            <a:lvl3pPr>
              <a:defRPr sz="668"/>
            </a:lvl3pPr>
            <a:lvl4pPr>
              <a:defRPr sz="556"/>
            </a:lvl4pPr>
            <a:lvl5pPr>
              <a:defRPr sz="556"/>
            </a:lvl5pPr>
            <a:lvl6pPr>
              <a:defRPr sz="556"/>
            </a:lvl6pPr>
            <a:lvl7pPr>
              <a:defRPr sz="556"/>
            </a:lvl7pPr>
            <a:lvl8pPr>
              <a:defRPr sz="556"/>
            </a:lvl8pPr>
            <a:lvl9pPr>
              <a:defRPr sz="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572453"/>
            <a:ext cx="1335322" cy="1060539"/>
          </a:xfrm>
        </p:spPr>
        <p:txBody>
          <a:bodyPr/>
          <a:lstStyle>
            <a:lvl1pPr marL="0" indent="0">
              <a:buNone/>
              <a:defRPr sz="445"/>
            </a:lvl1pPr>
            <a:lvl2pPr marL="127193" indent="0">
              <a:buNone/>
              <a:defRPr sz="389"/>
            </a:lvl2pPr>
            <a:lvl3pPr marL="254386" indent="0">
              <a:buNone/>
              <a:defRPr sz="334"/>
            </a:lvl3pPr>
            <a:lvl4pPr marL="381579" indent="0">
              <a:buNone/>
              <a:defRPr sz="278"/>
            </a:lvl4pPr>
            <a:lvl5pPr marL="508772" indent="0">
              <a:buNone/>
              <a:defRPr sz="278"/>
            </a:lvl5pPr>
            <a:lvl6pPr marL="635965" indent="0">
              <a:buNone/>
              <a:defRPr sz="278"/>
            </a:lvl6pPr>
            <a:lvl7pPr marL="763158" indent="0">
              <a:buNone/>
              <a:defRPr sz="278"/>
            </a:lvl7pPr>
            <a:lvl8pPr marL="890351" indent="0">
              <a:buNone/>
              <a:defRPr sz="278"/>
            </a:lvl8pPr>
            <a:lvl9pPr marL="1017544" indent="0">
              <a:buNone/>
              <a:defRPr sz="2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077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27212"/>
            <a:ext cx="1335322" cy="445241"/>
          </a:xfrm>
        </p:spPr>
        <p:txBody>
          <a:bodyPr anchor="b"/>
          <a:lstStyle>
            <a:lvl1pPr>
              <a:defRPr sz="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274742"/>
            <a:ext cx="2095976" cy="1356041"/>
          </a:xfrm>
        </p:spPr>
        <p:txBody>
          <a:bodyPr anchor="t"/>
          <a:lstStyle>
            <a:lvl1pPr marL="0" indent="0">
              <a:buNone/>
              <a:defRPr sz="890"/>
            </a:lvl1pPr>
            <a:lvl2pPr marL="127193" indent="0">
              <a:buNone/>
              <a:defRPr sz="779"/>
            </a:lvl2pPr>
            <a:lvl3pPr marL="254386" indent="0">
              <a:buNone/>
              <a:defRPr sz="668"/>
            </a:lvl3pPr>
            <a:lvl4pPr marL="381579" indent="0">
              <a:buNone/>
              <a:defRPr sz="556"/>
            </a:lvl4pPr>
            <a:lvl5pPr marL="508772" indent="0">
              <a:buNone/>
              <a:defRPr sz="556"/>
            </a:lvl5pPr>
            <a:lvl6pPr marL="635965" indent="0">
              <a:buNone/>
              <a:defRPr sz="556"/>
            </a:lvl6pPr>
            <a:lvl7pPr marL="763158" indent="0">
              <a:buNone/>
              <a:defRPr sz="556"/>
            </a:lvl7pPr>
            <a:lvl8pPr marL="890351" indent="0">
              <a:buNone/>
              <a:defRPr sz="556"/>
            </a:lvl8pPr>
            <a:lvl9pPr marL="1017544" indent="0">
              <a:buNone/>
              <a:defRPr sz="55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572453"/>
            <a:ext cx="1335322" cy="1060539"/>
          </a:xfrm>
        </p:spPr>
        <p:txBody>
          <a:bodyPr/>
          <a:lstStyle>
            <a:lvl1pPr marL="0" indent="0">
              <a:buNone/>
              <a:defRPr sz="445"/>
            </a:lvl1pPr>
            <a:lvl2pPr marL="127193" indent="0">
              <a:buNone/>
              <a:defRPr sz="389"/>
            </a:lvl2pPr>
            <a:lvl3pPr marL="254386" indent="0">
              <a:buNone/>
              <a:defRPr sz="334"/>
            </a:lvl3pPr>
            <a:lvl4pPr marL="381579" indent="0">
              <a:buNone/>
              <a:defRPr sz="278"/>
            </a:lvl4pPr>
            <a:lvl5pPr marL="508772" indent="0">
              <a:buNone/>
              <a:defRPr sz="278"/>
            </a:lvl5pPr>
            <a:lvl6pPr marL="635965" indent="0">
              <a:buNone/>
              <a:defRPr sz="278"/>
            </a:lvl6pPr>
            <a:lvl7pPr marL="763158" indent="0">
              <a:buNone/>
              <a:defRPr sz="278"/>
            </a:lvl7pPr>
            <a:lvl8pPr marL="890351" indent="0">
              <a:buNone/>
              <a:defRPr sz="278"/>
            </a:lvl8pPr>
            <a:lvl9pPr marL="1017544" indent="0">
              <a:buNone/>
              <a:defRPr sz="2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8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448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0" y="101593"/>
            <a:ext cx="892731" cy="161709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101593"/>
            <a:ext cx="2626439" cy="161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8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101593"/>
            <a:ext cx="3570923" cy="368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507963"/>
            <a:ext cx="3570923" cy="1210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1768595"/>
            <a:ext cx="931545" cy="1015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3EBC5-2BAE-4ECB-A995-B52653FE7498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1768595"/>
            <a:ext cx="1397318" cy="1015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1768595"/>
            <a:ext cx="931545" cy="1015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15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54386" rtl="0" eaLnBrk="1" latinLnBrk="0" hangingPunct="1">
        <a:lnSpc>
          <a:spcPct val="90000"/>
        </a:lnSpc>
        <a:spcBef>
          <a:spcPct val="0"/>
        </a:spcBef>
        <a:buNone/>
        <a:defRPr sz="12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3597" indent="-63597" algn="l" defTabSz="254386" rtl="0" eaLnBrk="1" latinLnBrk="0" hangingPunct="1">
        <a:lnSpc>
          <a:spcPct val="90000"/>
        </a:lnSpc>
        <a:spcBef>
          <a:spcPts val="278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1pPr>
      <a:lvl2pPr marL="190790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668" kern="1200">
          <a:solidFill>
            <a:schemeClr val="tx1"/>
          </a:solidFill>
          <a:latin typeface="+mn-lt"/>
          <a:ea typeface="+mn-ea"/>
          <a:cs typeface="+mn-cs"/>
        </a:defRPr>
      </a:lvl2pPr>
      <a:lvl3pPr marL="317983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556" kern="1200">
          <a:solidFill>
            <a:schemeClr val="tx1"/>
          </a:solidFill>
          <a:latin typeface="+mn-lt"/>
          <a:ea typeface="+mn-ea"/>
          <a:cs typeface="+mn-cs"/>
        </a:defRPr>
      </a:lvl3pPr>
      <a:lvl4pPr marL="445176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501" kern="1200">
          <a:solidFill>
            <a:schemeClr val="tx1"/>
          </a:solidFill>
          <a:latin typeface="+mn-lt"/>
          <a:ea typeface="+mn-ea"/>
          <a:cs typeface="+mn-cs"/>
        </a:defRPr>
      </a:lvl4pPr>
      <a:lvl5pPr marL="572369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501" kern="1200">
          <a:solidFill>
            <a:schemeClr val="tx1"/>
          </a:solidFill>
          <a:latin typeface="+mn-lt"/>
          <a:ea typeface="+mn-ea"/>
          <a:cs typeface="+mn-cs"/>
        </a:defRPr>
      </a:lvl5pPr>
      <a:lvl6pPr marL="699562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501" kern="1200">
          <a:solidFill>
            <a:schemeClr val="tx1"/>
          </a:solidFill>
          <a:latin typeface="+mn-lt"/>
          <a:ea typeface="+mn-ea"/>
          <a:cs typeface="+mn-cs"/>
        </a:defRPr>
      </a:lvl6pPr>
      <a:lvl7pPr marL="826755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501" kern="1200">
          <a:solidFill>
            <a:schemeClr val="tx1"/>
          </a:solidFill>
          <a:latin typeface="+mn-lt"/>
          <a:ea typeface="+mn-ea"/>
          <a:cs typeface="+mn-cs"/>
        </a:defRPr>
      </a:lvl7pPr>
      <a:lvl8pPr marL="953948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501" kern="1200">
          <a:solidFill>
            <a:schemeClr val="tx1"/>
          </a:solidFill>
          <a:latin typeface="+mn-lt"/>
          <a:ea typeface="+mn-ea"/>
          <a:cs typeface="+mn-cs"/>
        </a:defRPr>
      </a:lvl8pPr>
      <a:lvl9pPr marL="1081141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1pPr>
      <a:lvl2pPr marL="127193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2pPr>
      <a:lvl3pPr marL="254386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3pPr>
      <a:lvl4pPr marL="381579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4pPr>
      <a:lvl5pPr marL="508772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5pPr>
      <a:lvl6pPr marL="635965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6pPr>
      <a:lvl7pPr marL="763158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7pPr>
      <a:lvl8pPr marL="890351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8pPr>
      <a:lvl9pPr marL="1017544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pps.ecmwf.int/mars-catalogue/?class=ea&amp;stream=op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623DAB-A4E1-DF1C-9B96-E2C1CE9DE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5081"/>
              </p:ext>
            </p:extLst>
          </p:nvPr>
        </p:nvGraphicFramePr>
        <p:xfrm>
          <a:off x="1" y="0"/>
          <a:ext cx="4140200" cy="13963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800099">
                  <a:extLst>
                    <a:ext uri="{9D8B030D-6E8A-4147-A177-3AD203B41FA5}">
                      <a16:colId xmlns:a16="http://schemas.microsoft.com/office/drawing/2014/main" val="1840348847"/>
                    </a:ext>
                  </a:extLst>
                </a:gridCol>
                <a:gridCol w="695145">
                  <a:extLst>
                    <a:ext uri="{9D8B030D-6E8A-4147-A177-3AD203B41FA5}">
                      <a16:colId xmlns:a16="http://schemas.microsoft.com/office/drawing/2014/main" val="950765403"/>
                    </a:ext>
                  </a:extLst>
                </a:gridCol>
                <a:gridCol w="609780">
                  <a:extLst>
                    <a:ext uri="{9D8B030D-6E8A-4147-A177-3AD203B41FA5}">
                      <a16:colId xmlns:a16="http://schemas.microsoft.com/office/drawing/2014/main" val="1151685360"/>
                    </a:ext>
                  </a:extLst>
                </a:gridCol>
                <a:gridCol w="1333914">
                  <a:extLst>
                    <a:ext uri="{9D8B030D-6E8A-4147-A177-3AD203B41FA5}">
                      <a16:colId xmlns:a16="http://schemas.microsoft.com/office/drawing/2014/main" val="66260659"/>
                    </a:ext>
                  </a:extLst>
                </a:gridCol>
                <a:gridCol w="701262">
                  <a:extLst>
                    <a:ext uri="{9D8B030D-6E8A-4147-A177-3AD203B41FA5}">
                      <a16:colId xmlns:a16="http://schemas.microsoft.com/office/drawing/2014/main" val="110505741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Dataset</a:t>
                      </a:r>
                      <a:endParaRPr lang="en-GB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Runs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(UTC)</a:t>
                      </a:r>
                      <a:endParaRPr lang="en-GB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Max Lead 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Time 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(hours)</a:t>
                      </a:r>
                      <a:endParaRPr lang="en-GB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Temporal </a:t>
                      </a:r>
                    </a:p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Resolution</a:t>
                      </a:r>
                      <a:endParaRPr lang="en-GB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Version in Mars Archive</a:t>
                      </a:r>
                      <a:endParaRPr lang="en-GB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34651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Reanalysis*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06 and 18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t + 18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Hourly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1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1275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Avenir Next LT Pro" panose="020B0504020202020204" pitchFamily="34" charset="0"/>
                        </a:rPr>
                        <a:t>Forecasts*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00 and 12</a:t>
                      </a:r>
                      <a:r>
                        <a:rPr lang="en-US" sz="800" baseline="30000" dirty="0">
                          <a:latin typeface="Avenir Next LT Pro" panose="020B0504020202020204" pitchFamily="34" charset="0"/>
                        </a:rPr>
                        <a:t>+</a:t>
                      </a:r>
                      <a:endParaRPr lang="en-GB" sz="800" baseline="300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t + 240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3-hourly up to t+12</a:t>
                      </a:r>
                    </a:p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6-hourly up to t+120</a:t>
                      </a:r>
                    </a:p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12-hourly up to t+240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11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7760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FB118F7-3AF0-A668-608B-98A47405975A}"/>
              </a:ext>
            </a:extLst>
          </p:cNvPr>
          <p:cNvSpPr txBox="1"/>
          <p:nvPr/>
        </p:nvSpPr>
        <p:spPr>
          <a:xfrm>
            <a:off x="-57150" y="1371600"/>
            <a:ext cx="4197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</a:rPr>
              <a:t>*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Demi" panose="020B0704020202020204" pitchFamily="34" charset="0"/>
              </a:rPr>
              <a:t>Model Version: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</a:rPr>
              <a:t>IFS </a:t>
            </a:r>
            <a:r>
              <a:rPr 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</a:rPr>
              <a:t>Cycle 41r2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</a:rPr>
              <a:t>,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Demi" panose="020B0704020202020204" pitchFamily="34" charset="0"/>
              </a:rPr>
              <a:t>Native spatial resolution: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</a:rPr>
              <a:t>reduced-gaussian N320 (~31 km at the equator),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Demi" panose="020B0704020202020204" pitchFamily="34" charset="0"/>
              </a:rPr>
              <a:t>Temporal range: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</a:rPr>
              <a:t>1940 to near real time (5-day latency), </a:t>
            </a:r>
          </a:p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Demi" panose="020B0704020202020204" pitchFamily="34" charset="0"/>
              </a:rPr>
              <a:t>Mars Catalogue: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  <a:hlinkClick r:id="rId2"/>
              </a:rPr>
              <a:t>https://apps.ecmwf.int/mars-catalogue/?class=ea&amp;stream=oper</a:t>
            </a:r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  <a:latin typeface="Avenir Next LT Pro" panose="020B0504020202020204" pitchFamily="34" charset="0"/>
            </a:endParaRPr>
          </a:p>
          <a:p>
            <a:r>
              <a:rPr lang="en-US" sz="8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</a:rPr>
              <a:t>+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</a:rPr>
              <a:t> The 12 UTC runs in the ERA5 forecasts were not used in this thesis.</a:t>
            </a:r>
          </a:p>
        </p:txBody>
      </p:sp>
    </p:spTree>
    <p:extLst>
      <p:ext uri="{BB962C8B-B14F-4D97-AF65-F5344CB8AC3E}">
        <p14:creationId xmlns:p14="http://schemas.microsoft.com/office/powerpoint/2010/main" val="3020345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124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Avenir Next LT Pro</vt:lpstr>
      <vt:lpstr>Avenir Next LT Pro Demi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3</cp:revision>
  <dcterms:created xsi:type="dcterms:W3CDTF">2025-05-13T10:40:36Z</dcterms:created>
  <dcterms:modified xsi:type="dcterms:W3CDTF">2026-01-15T10:11:35Z</dcterms:modified>
</cp:coreProperties>
</file>