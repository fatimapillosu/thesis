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7" r:id="rId2"/>
  </p:sldIdLst>
  <p:sldSz cx="4140200" cy="60547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8FB9957-027C-411D-A422-99249677AC41}" v="2" dt="2026-01-19T16:25:49.11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494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337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atima Pillosu" userId="a6295d4dc9e22643" providerId="LiveId" clId="{87453732-75AC-4426-B5D3-B7C69C2D4F54}"/>
    <pc:docChg chg="undo custSel modSld">
      <pc:chgData name="Fatima Pillosu" userId="a6295d4dc9e22643" providerId="LiveId" clId="{87453732-75AC-4426-B5D3-B7C69C2D4F54}" dt="2026-01-19T16:25:49.112" v="89"/>
      <pc:docMkLst>
        <pc:docMk/>
      </pc:docMkLst>
      <pc:sldChg chg="addSp delSp modSp mod">
        <pc:chgData name="Fatima Pillosu" userId="a6295d4dc9e22643" providerId="LiveId" clId="{87453732-75AC-4426-B5D3-B7C69C2D4F54}" dt="2026-01-19T16:25:49.112" v="89"/>
        <pc:sldMkLst>
          <pc:docMk/>
          <pc:sldMk cId="3020345181" sldId="257"/>
        </pc:sldMkLst>
        <pc:spChg chg="add del">
          <ac:chgData name="Fatima Pillosu" userId="a6295d4dc9e22643" providerId="LiveId" clId="{87453732-75AC-4426-B5D3-B7C69C2D4F54}" dt="2026-01-19T16:25:34.688" v="87" actId="478"/>
          <ac:spMkLst>
            <pc:docMk/>
            <pc:sldMk cId="3020345181" sldId="257"/>
            <ac:spMk id="2" creationId="{FB07BD71-DFD2-5C9A-1F5E-068CC8099799}"/>
          </ac:spMkLst>
        </pc:spChg>
        <pc:graphicFrameChg chg="del modGraphic">
          <ac:chgData name="Fatima Pillosu" userId="a6295d4dc9e22643" providerId="LiveId" clId="{87453732-75AC-4426-B5D3-B7C69C2D4F54}" dt="2026-01-19T16:25:35.945" v="88" actId="21"/>
          <ac:graphicFrameMkLst>
            <pc:docMk/>
            <pc:sldMk cId="3020345181" sldId="257"/>
            <ac:graphicFrameMk id="3" creationId="{15623DAB-A4E1-DF1C-9B96-E2C1CE9DE49A}"/>
          </ac:graphicFrameMkLst>
        </pc:graphicFrameChg>
        <pc:graphicFrameChg chg="add mod">
          <ac:chgData name="Fatima Pillosu" userId="a6295d4dc9e22643" providerId="LiveId" clId="{87453732-75AC-4426-B5D3-B7C69C2D4F54}" dt="2026-01-19T16:25:49.112" v="89"/>
          <ac:graphicFrameMkLst>
            <pc:docMk/>
            <pc:sldMk cId="3020345181" sldId="257"/>
            <ac:graphicFrameMk id="4" creationId="{15623DAB-A4E1-DF1C-9B96-E2C1CE9DE49A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0515" y="990901"/>
            <a:ext cx="3519170" cy="2107941"/>
          </a:xfrm>
        </p:spPr>
        <p:txBody>
          <a:bodyPr anchor="b"/>
          <a:lstStyle>
            <a:lvl1pPr algn="ctr">
              <a:defRPr sz="271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7525" y="3180133"/>
            <a:ext cx="3105150" cy="1461823"/>
          </a:xfrm>
        </p:spPr>
        <p:txBody>
          <a:bodyPr/>
          <a:lstStyle>
            <a:lvl1pPr marL="0" indent="0" algn="ctr">
              <a:buNone/>
              <a:defRPr sz="1087"/>
            </a:lvl1pPr>
            <a:lvl2pPr marL="207020" indent="0" algn="ctr">
              <a:buNone/>
              <a:defRPr sz="906"/>
            </a:lvl2pPr>
            <a:lvl3pPr marL="414040" indent="0" algn="ctr">
              <a:buNone/>
              <a:defRPr sz="815"/>
            </a:lvl3pPr>
            <a:lvl4pPr marL="621060" indent="0" algn="ctr">
              <a:buNone/>
              <a:defRPr sz="724"/>
            </a:lvl4pPr>
            <a:lvl5pPr marL="828081" indent="0" algn="ctr">
              <a:buNone/>
              <a:defRPr sz="724"/>
            </a:lvl5pPr>
            <a:lvl6pPr marL="1035101" indent="0" algn="ctr">
              <a:buNone/>
              <a:defRPr sz="724"/>
            </a:lvl6pPr>
            <a:lvl7pPr marL="1242121" indent="0" algn="ctr">
              <a:buNone/>
              <a:defRPr sz="724"/>
            </a:lvl7pPr>
            <a:lvl8pPr marL="1449141" indent="0" algn="ctr">
              <a:buNone/>
              <a:defRPr sz="724"/>
            </a:lvl8pPr>
            <a:lvl9pPr marL="1656161" indent="0" algn="ctr">
              <a:buNone/>
              <a:defRPr sz="724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B3EBC5-2BAE-4ECB-A995-B52653FE7498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E1A6-C6C5-40DA-8FE7-68006F036B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63650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B3EBC5-2BAE-4ECB-A995-B52653FE7498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E1A6-C6C5-40DA-8FE7-68006F036B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50303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2482" y="1509478"/>
            <a:ext cx="3570923" cy="2518597"/>
          </a:xfrm>
        </p:spPr>
        <p:txBody>
          <a:bodyPr anchor="b"/>
          <a:lstStyle>
            <a:lvl1pPr>
              <a:defRPr sz="271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2482" y="4051902"/>
            <a:ext cx="3570923" cy="1324471"/>
          </a:xfrm>
        </p:spPr>
        <p:txBody>
          <a:bodyPr/>
          <a:lstStyle>
            <a:lvl1pPr marL="0" indent="0">
              <a:buNone/>
              <a:defRPr sz="1087">
                <a:solidFill>
                  <a:schemeClr val="tx1">
                    <a:tint val="82000"/>
                  </a:schemeClr>
                </a:solidFill>
              </a:defRPr>
            </a:lvl1pPr>
            <a:lvl2pPr marL="207020" indent="0">
              <a:buNone/>
              <a:defRPr sz="906">
                <a:solidFill>
                  <a:schemeClr val="tx1">
                    <a:tint val="82000"/>
                  </a:schemeClr>
                </a:solidFill>
              </a:defRPr>
            </a:lvl2pPr>
            <a:lvl3pPr marL="414040" indent="0">
              <a:buNone/>
              <a:defRPr sz="815">
                <a:solidFill>
                  <a:schemeClr val="tx1">
                    <a:tint val="82000"/>
                  </a:schemeClr>
                </a:solidFill>
              </a:defRPr>
            </a:lvl3pPr>
            <a:lvl4pPr marL="621060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4pPr>
            <a:lvl5pPr marL="82808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5pPr>
            <a:lvl6pPr marL="103510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6pPr>
            <a:lvl7pPr marL="124212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7pPr>
            <a:lvl8pPr marL="144914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8pPr>
            <a:lvl9pPr marL="1656161" indent="0">
              <a:buNone/>
              <a:defRPr sz="72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B3EBC5-2BAE-4ECB-A995-B52653FE7498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E1A6-C6C5-40DA-8FE7-68006F036B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60603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84639" y="1611790"/>
            <a:ext cx="1759585" cy="38416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95976" y="1611790"/>
            <a:ext cx="1759585" cy="38416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B3EBC5-2BAE-4ECB-A995-B52653FE7498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E1A6-C6C5-40DA-8FE7-68006F036B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62700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322360"/>
            <a:ext cx="3570923" cy="11703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5179" y="1484249"/>
            <a:ext cx="1751498" cy="727407"/>
          </a:xfrm>
        </p:spPr>
        <p:txBody>
          <a:bodyPr anchor="b"/>
          <a:lstStyle>
            <a:lvl1pPr marL="0" indent="0">
              <a:buNone/>
              <a:defRPr sz="1087" b="1"/>
            </a:lvl1pPr>
            <a:lvl2pPr marL="207020" indent="0">
              <a:buNone/>
              <a:defRPr sz="906" b="1"/>
            </a:lvl2pPr>
            <a:lvl3pPr marL="414040" indent="0">
              <a:buNone/>
              <a:defRPr sz="815" b="1"/>
            </a:lvl3pPr>
            <a:lvl4pPr marL="621060" indent="0">
              <a:buNone/>
              <a:defRPr sz="724" b="1"/>
            </a:lvl4pPr>
            <a:lvl5pPr marL="828081" indent="0">
              <a:buNone/>
              <a:defRPr sz="724" b="1"/>
            </a:lvl5pPr>
            <a:lvl6pPr marL="1035101" indent="0">
              <a:buNone/>
              <a:defRPr sz="724" b="1"/>
            </a:lvl6pPr>
            <a:lvl7pPr marL="1242121" indent="0">
              <a:buNone/>
              <a:defRPr sz="724" b="1"/>
            </a:lvl7pPr>
            <a:lvl8pPr marL="1449141" indent="0">
              <a:buNone/>
              <a:defRPr sz="724" b="1"/>
            </a:lvl8pPr>
            <a:lvl9pPr marL="1656161" indent="0">
              <a:buNone/>
              <a:defRPr sz="72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85179" y="2211656"/>
            <a:ext cx="1751498" cy="32530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095977" y="1484249"/>
            <a:ext cx="1760124" cy="727407"/>
          </a:xfrm>
        </p:spPr>
        <p:txBody>
          <a:bodyPr anchor="b"/>
          <a:lstStyle>
            <a:lvl1pPr marL="0" indent="0">
              <a:buNone/>
              <a:defRPr sz="1087" b="1"/>
            </a:lvl1pPr>
            <a:lvl2pPr marL="207020" indent="0">
              <a:buNone/>
              <a:defRPr sz="906" b="1"/>
            </a:lvl2pPr>
            <a:lvl3pPr marL="414040" indent="0">
              <a:buNone/>
              <a:defRPr sz="815" b="1"/>
            </a:lvl3pPr>
            <a:lvl4pPr marL="621060" indent="0">
              <a:buNone/>
              <a:defRPr sz="724" b="1"/>
            </a:lvl4pPr>
            <a:lvl5pPr marL="828081" indent="0">
              <a:buNone/>
              <a:defRPr sz="724" b="1"/>
            </a:lvl5pPr>
            <a:lvl6pPr marL="1035101" indent="0">
              <a:buNone/>
              <a:defRPr sz="724" b="1"/>
            </a:lvl6pPr>
            <a:lvl7pPr marL="1242121" indent="0">
              <a:buNone/>
              <a:defRPr sz="724" b="1"/>
            </a:lvl7pPr>
            <a:lvl8pPr marL="1449141" indent="0">
              <a:buNone/>
              <a:defRPr sz="724" b="1"/>
            </a:lvl8pPr>
            <a:lvl9pPr marL="1656161" indent="0">
              <a:buNone/>
              <a:defRPr sz="72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095977" y="2211656"/>
            <a:ext cx="1760124" cy="32530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B3EBC5-2BAE-4ECB-A995-B52653FE7498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E1A6-C6C5-40DA-8FE7-68006F036B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650919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B3EBC5-2BAE-4ECB-A995-B52653FE7498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E1A6-C6C5-40DA-8FE7-68006F036B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61617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B3EBC5-2BAE-4ECB-A995-B52653FE7498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E1A6-C6C5-40DA-8FE7-68006F036B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66195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403648"/>
            <a:ext cx="1335322" cy="1412769"/>
          </a:xfrm>
        </p:spPr>
        <p:txBody>
          <a:bodyPr anchor="b"/>
          <a:lstStyle>
            <a:lvl1pPr>
              <a:defRPr sz="144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60124" y="871770"/>
            <a:ext cx="2095976" cy="4302779"/>
          </a:xfrm>
        </p:spPr>
        <p:txBody>
          <a:bodyPr/>
          <a:lstStyle>
            <a:lvl1pPr>
              <a:defRPr sz="1449"/>
            </a:lvl1pPr>
            <a:lvl2pPr>
              <a:defRPr sz="1268"/>
            </a:lvl2pPr>
            <a:lvl3pPr>
              <a:defRPr sz="1087"/>
            </a:lvl3pPr>
            <a:lvl4pPr>
              <a:defRPr sz="906"/>
            </a:lvl4pPr>
            <a:lvl5pPr>
              <a:defRPr sz="906"/>
            </a:lvl5pPr>
            <a:lvl6pPr>
              <a:defRPr sz="906"/>
            </a:lvl6pPr>
            <a:lvl7pPr>
              <a:defRPr sz="906"/>
            </a:lvl7pPr>
            <a:lvl8pPr>
              <a:defRPr sz="906"/>
            </a:lvl8pPr>
            <a:lvl9pPr>
              <a:defRPr sz="90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5178" y="1816418"/>
            <a:ext cx="1335322" cy="3365138"/>
          </a:xfrm>
        </p:spPr>
        <p:txBody>
          <a:bodyPr/>
          <a:lstStyle>
            <a:lvl1pPr marL="0" indent="0">
              <a:buNone/>
              <a:defRPr sz="724"/>
            </a:lvl1pPr>
            <a:lvl2pPr marL="207020" indent="0">
              <a:buNone/>
              <a:defRPr sz="634"/>
            </a:lvl2pPr>
            <a:lvl3pPr marL="414040" indent="0">
              <a:buNone/>
              <a:defRPr sz="543"/>
            </a:lvl3pPr>
            <a:lvl4pPr marL="621060" indent="0">
              <a:buNone/>
              <a:defRPr sz="453"/>
            </a:lvl4pPr>
            <a:lvl5pPr marL="828081" indent="0">
              <a:buNone/>
              <a:defRPr sz="453"/>
            </a:lvl5pPr>
            <a:lvl6pPr marL="1035101" indent="0">
              <a:buNone/>
              <a:defRPr sz="453"/>
            </a:lvl6pPr>
            <a:lvl7pPr marL="1242121" indent="0">
              <a:buNone/>
              <a:defRPr sz="453"/>
            </a:lvl7pPr>
            <a:lvl8pPr marL="1449141" indent="0">
              <a:buNone/>
              <a:defRPr sz="453"/>
            </a:lvl8pPr>
            <a:lvl9pPr marL="1656161" indent="0">
              <a:buNone/>
              <a:defRPr sz="45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B3EBC5-2BAE-4ECB-A995-B52653FE7498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E1A6-C6C5-40DA-8FE7-68006F036B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28371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5178" y="403648"/>
            <a:ext cx="1335322" cy="1412769"/>
          </a:xfrm>
        </p:spPr>
        <p:txBody>
          <a:bodyPr anchor="b"/>
          <a:lstStyle>
            <a:lvl1pPr>
              <a:defRPr sz="144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60124" y="871770"/>
            <a:ext cx="2095976" cy="4302779"/>
          </a:xfrm>
        </p:spPr>
        <p:txBody>
          <a:bodyPr anchor="t"/>
          <a:lstStyle>
            <a:lvl1pPr marL="0" indent="0">
              <a:buNone/>
              <a:defRPr sz="1449"/>
            </a:lvl1pPr>
            <a:lvl2pPr marL="207020" indent="0">
              <a:buNone/>
              <a:defRPr sz="1268"/>
            </a:lvl2pPr>
            <a:lvl3pPr marL="414040" indent="0">
              <a:buNone/>
              <a:defRPr sz="1087"/>
            </a:lvl3pPr>
            <a:lvl4pPr marL="621060" indent="0">
              <a:buNone/>
              <a:defRPr sz="906"/>
            </a:lvl4pPr>
            <a:lvl5pPr marL="828081" indent="0">
              <a:buNone/>
              <a:defRPr sz="906"/>
            </a:lvl5pPr>
            <a:lvl6pPr marL="1035101" indent="0">
              <a:buNone/>
              <a:defRPr sz="906"/>
            </a:lvl6pPr>
            <a:lvl7pPr marL="1242121" indent="0">
              <a:buNone/>
              <a:defRPr sz="906"/>
            </a:lvl7pPr>
            <a:lvl8pPr marL="1449141" indent="0">
              <a:buNone/>
              <a:defRPr sz="906"/>
            </a:lvl8pPr>
            <a:lvl9pPr marL="1656161" indent="0">
              <a:buNone/>
              <a:defRPr sz="906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5178" y="1816418"/>
            <a:ext cx="1335322" cy="3365138"/>
          </a:xfrm>
        </p:spPr>
        <p:txBody>
          <a:bodyPr/>
          <a:lstStyle>
            <a:lvl1pPr marL="0" indent="0">
              <a:buNone/>
              <a:defRPr sz="724"/>
            </a:lvl1pPr>
            <a:lvl2pPr marL="207020" indent="0">
              <a:buNone/>
              <a:defRPr sz="634"/>
            </a:lvl2pPr>
            <a:lvl3pPr marL="414040" indent="0">
              <a:buNone/>
              <a:defRPr sz="543"/>
            </a:lvl3pPr>
            <a:lvl4pPr marL="621060" indent="0">
              <a:buNone/>
              <a:defRPr sz="453"/>
            </a:lvl4pPr>
            <a:lvl5pPr marL="828081" indent="0">
              <a:buNone/>
              <a:defRPr sz="453"/>
            </a:lvl5pPr>
            <a:lvl6pPr marL="1035101" indent="0">
              <a:buNone/>
              <a:defRPr sz="453"/>
            </a:lvl6pPr>
            <a:lvl7pPr marL="1242121" indent="0">
              <a:buNone/>
              <a:defRPr sz="453"/>
            </a:lvl7pPr>
            <a:lvl8pPr marL="1449141" indent="0">
              <a:buNone/>
              <a:defRPr sz="453"/>
            </a:lvl8pPr>
            <a:lvl9pPr marL="1656161" indent="0">
              <a:buNone/>
              <a:defRPr sz="45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B3EBC5-2BAE-4ECB-A995-B52653FE7498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E1A6-C6C5-40DA-8FE7-68006F036B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372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B3EBC5-2BAE-4ECB-A995-B52653FE7498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E1A6-C6C5-40DA-8FE7-68006F036B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43228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962831" y="322358"/>
            <a:ext cx="892731" cy="51311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84639" y="322358"/>
            <a:ext cx="2626439" cy="51311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B3EBC5-2BAE-4ECB-A995-B52653FE7498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8EE1A6-C6C5-40DA-8FE7-68006F036B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02959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4639" y="322360"/>
            <a:ext cx="3570923" cy="11703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4639" y="1611790"/>
            <a:ext cx="3570923" cy="38416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84639" y="5611834"/>
            <a:ext cx="931545" cy="3223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B3EBC5-2BAE-4ECB-A995-B52653FE7498}" type="datetimeFigureOut">
              <a:rPr lang="en-GB" smtClean="0"/>
              <a:t>19/01/2026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71441" y="5611834"/>
            <a:ext cx="1397318" cy="3223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924016" y="5611834"/>
            <a:ext cx="931545" cy="3223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8EE1A6-C6C5-40DA-8FE7-68006F036B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52425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14040" rtl="0" eaLnBrk="1" latinLnBrk="0" hangingPunct="1">
        <a:lnSpc>
          <a:spcPct val="90000"/>
        </a:lnSpc>
        <a:spcBef>
          <a:spcPct val="0"/>
        </a:spcBef>
        <a:buNone/>
        <a:defRPr sz="199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3510" indent="-103510" algn="l" defTabSz="414040" rtl="0" eaLnBrk="1" latinLnBrk="0" hangingPunct="1">
        <a:lnSpc>
          <a:spcPct val="90000"/>
        </a:lnSpc>
        <a:spcBef>
          <a:spcPts val="453"/>
        </a:spcBef>
        <a:buFont typeface="Arial" panose="020B0604020202020204" pitchFamily="34" charset="0"/>
        <a:buChar char="•"/>
        <a:defRPr sz="1268" kern="1200">
          <a:solidFill>
            <a:schemeClr val="tx1"/>
          </a:solidFill>
          <a:latin typeface="+mn-lt"/>
          <a:ea typeface="+mn-ea"/>
          <a:cs typeface="+mn-cs"/>
        </a:defRPr>
      </a:lvl1pPr>
      <a:lvl2pPr marL="310530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1087" kern="1200">
          <a:solidFill>
            <a:schemeClr val="tx1"/>
          </a:solidFill>
          <a:latin typeface="+mn-lt"/>
          <a:ea typeface="+mn-ea"/>
          <a:cs typeface="+mn-cs"/>
        </a:defRPr>
      </a:lvl2pPr>
      <a:lvl3pPr marL="517550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906" kern="1200">
          <a:solidFill>
            <a:schemeClr val="tx1"/>
          </a:solidFill>
          <a:latin typeface="+mn-lt"/>
          <a:ea typeface="+mn-ea"/>
          <a:cs typeface="+mn-cs"/>
        </a:defRPr>
      </a:lvl3pPr>
      <a:lvl4pPr marL="72457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4pPr>
      <a:lvl5pPr marL="93159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5pPr>
      <a:lvl6pPr marL="113861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6pPr>
      <a:lvl7pPr marL="134563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7pPr>
      <a:lvl8pPr marL="155265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8pPr>
      <a:lvl9pPr marL="1759671" indent="-103510" algn="l" defTabSz="414040" rtl="0" eaLnBrk="1" latinLnBrk="0" hangingPunct="1">
        <a:lnSpc>
          <a:spcPct val="90000"/>
        </a:lnSpc>
        <a:spcBef>
          <a:spcPts val="226"/>
        </a:spcBef>
        <a:buFont typeface="Arial" panose="020B0604020202020204" pitchFamily="34" charset="0"/>
        <a:buChar char="•"/>
        <a:defRPr sz="81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1pPr>
      <a:lvl2pPr marL="20702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2pPr>
      <a:lvl3pPr marL="41404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3pPr>
      <a:lvl4pPr marL="621060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4pPr>
      <a:lvl5pPr marL="82808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5pPr>
      <a:lvl6pPr marL="103510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6pPr>
      <a:lvl7pPr marL="124212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7pPr>
      <a:lvl8pPr marL="144914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8pPr>
      <a:lvl9pPr marL="1656161" algn="l" defTabSz="414040" rtl="0" eaLnBrk="1" latinLnBrk="0" hangingPunct="1">
        <a:defRPr sz="8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5623DAB-A4E1-DF1C-9B96-E2C1CE9DE4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7971229"/>
              </p:ext>
            </p:extLst>
          </p:nvPr>
        </p:nvGraphicFramePr>
        <p:xfrm>
          <a:off x="1" y="0"/>
          <a:ext cx="4140000" cy="6055680"/>
        </p:xfrm>
        <a:graphic>
          <a:graphicData uri="http://schemas.openxmlformats.org/drawingml/2006/table">
            <a:tbl>
              <a:tblPr firstRow="1" bandRow="1">
                <a:tableStyleId>{5202B0CA-FC54-4496-8BCA-5EF66A818D29}</a:tableStyleId>
              </a:tblPr>
              <a:tblGrid>
                <a:gridCol w="1013253">
                  <a:extLst>
                    <a:ext uri="{9D8B030D-6E8A-4147-A177-3AD203B41FA5}">
                      <a16:colId xmlns:a16="http://schemas.microsoft.com/office/drawing/2014/main" val="1840348847"/>
                    </a:ext>
                  </a:extLst>
                </a:gridCol>
                <a:gridCol w="840260">
                  <a:extLst>
                    <a:ext uri="{9D8B030D-6E8A-4147-A177-3AD203B41FA5}">
                      <a16:colId xmlns:a16="http://schemas.microsoft.com/office/drawing/2014/main" val="1267378530"/>
                    </a:ext>
                  </a:extLst>
                </a:gridCol>
                <a:gridCol w="527221">
                  <a:extLst>
                    <a:ext uri="{9D8B030D-6E8A-4147-A177-3AD203B41FA5}">
                      <a16:colId xmlns:a16="http://schemas.microsoft.com/office/drawing/2014/main" val="3011250887"/>
                    </a:ext>
                  </a:extLst>
                </a:gridCol>
                <a:gridCol w="1759266">
                  <a:extLst>
                    <a:ext uri="{9D8B030D-6E8A-4147-A177-3AD203B41FA5}">
                      <a16:colId xmlns:a16="http://schemas.microsoft.com/office/drawing/2014/main" val="95076540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sz="7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venir Next LT Pro Demi" panose="020B0704020202020204" pitchFamily="34" charset="0"/>
                        </a:rPr>
                        <a:t>Key</a:t>
                      </a:r>
                      <a:endParaRPr lang="en-GB" sz="7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Avenir Next LT Pro Demi" panose="020B0704020202020204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7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venir Next LT Pro Demi" panose="020B0704020202020204" pitchFamily="34" charset="0"/>
                        </a:rPr>
                        <a:t>Type</a:t>
                      </a:r>
                      <a:endParaRPr lang="en-GB" sz="7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Avenir Next LT Pro Demi" panose="020B0704020202020204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140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venir Next LT Pro Demi" panose="020B0704020202020204" pitchFamily="34" charset="0"/>
                        </a:rPr>
                        <a:t>Units</a:t>
                      </a:r>
                      <a:endParaRPr lang="en-GB" sz="7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Avenir Next LT Pro Demi" panose="020B0704020202020204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7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Avenir Next LT Pro Demi" panose="020B0704020202020204" pitchFamily="34" charset="0"/>
                        </a:rPr>
                        <a:t>Description</a:t>
                      </a:r>
                      <a:endParaRPr lang="en-GB" sz="700" dirty="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Avenir Next LT Pro Demi" panose="020B0704020202020204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334651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sz="700" dirty="0">
                          <a:latin typeface="Avenir Next LT Pro" panose="020B0504020202020204" pitchFamily="34" charset="0"/>
                        </a:rPr>
                        <a:t>EVENT_ID</a:t>
                      </a:r>
                      <a:endParaRPr lang="en-GB" sz="700" dirty="0">
                        <a:latin typeface="Avenir Next LT Pro" panose="020B0504020202020204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700" dirty="0">
                          <a:latin typeface="Avenir Next LT Pro" panose="020B0504020202020204" pitchFamily="34" charset="0"/>
                        </a:rPr>
                        <a:t>String</a:t>
                      </a:r>
                      <a:endParaRPr lang="en-GB" sz="700" dirty="0">
                        <a:latin typeface="Avenir Next LT Pro" panose="020B0504020202020204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700" dirty="0">
                          <a:latin typeface="Avenir Next LT Pro" panose="020B0504020202020204" pitchFamily="34" charset="0"/>
                        </a:rPr>
                        <a:t>-</a:t>
                      </a:r>
                      <a:endParaRPr lang="en-GB" sz="700" dirty="0">
                        <a:latin typeface="Avenir Next LT Pro" panose="020B0504020202020204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700" dirty="0">
                          <a:latin typeface="Avenir Next LT Pro" panose="020B0504020202020204" pitchFamily="34" charset="0"/>
                        </a:rPr>
                        <a:t>ID assigned by NWS for each individual storm event contained within a storm episode.</a:t>
                      </a:r>
                      <a:endParaRPr lang="en-GB" sz="700" dirty="0">
                        <a:latin typeface="Avenir Next LT Pro" panose="020B0504020202020204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812757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sz="700" b="0" dirty="0">
                          <a:latin typeface="Avenir Next LT Pro" panose="020B0504020202020204" pitchFamily="34" charset="0"/>
                        </a:rPr>
                        <a:t>STATE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700" b="0" dirty="0">
                          <a:latin typeface="Avenir Next LT Pro" panose="020B0504020202020204" pitchFamily="34" charset="0"/>
                        </a:rPr>
                        <a:t>String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700" b="0" dirty="0">
                          <a:latin typeface="Avenir Next LT Pro" panose="020B0504020202020204" pitchFamily="34" charset="0"/>
                        </a:rPr>
                        <a:t>-</a:t>
                      </a:r>
                      <a:endParaRPr lang="en-GB" sz="700" b="0" dirty="0">
                        <a:latin typeface="Avenir Next LT Pro" panose="020B0504020202020204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700" b="0" dirty="0">
                          <a:latin typeface="Avenir Next LT Pro" panose="020B0504020202020204" pitchFamily="34" charset="0"/>
                        </a:rPr>
                        <a:t>The (spelt out) name of the state where the event occurred.</a:t>
                      </a:r>
                      <a:endParaRPr lang="en-GB" sz="700" b="0" dirty="0">
                        <a:latin typeface="Avenir Next LT Pro" panose="020B0504020202020204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777600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marR="0" lvl="0" indent="0" algn="ctr" defTabSz="4140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dirty="0">
                          <a:latin typeface="Avenir Next LT Pro" panose="020B0504020202020204" pitchFamily="34" charset="0"/>
                        </a:rPr>
                        <a:t>CZ_TIMEZONE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140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dirty="0">
                          <a:latin typeface="Avenir Next LT Pro" panose="020B0504020202020204" pitchFamily="34" charset="0"/>
                        </a:rPr>
                        <a:t>String</a:t>
                      </a:r>
                      <a:endParaRPr lang="en-US" sz="700" dirty="0">
                        <a:latin typeface="Avenir Next LT Pro" panose="020B0504020202020204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700" dirty="0">
                          <a:latin typeface="Avenir Next LT Pro" panose="020B0504020202020204" pitchFamily="34" charset="0"/>
                        </a:rPr>
                        <a:t>-</a:t>
                      </a:r>
                      <a:endParaRPr lang="en-GB" sz="700" dirty="0">
                        <a:latin typeface="Avenir Next LT Pro" panose="020B0504020202020204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700" dirty="0">
                          <a:latin typeface="Avenir Next LT Pro" panose="020B0504020202020204" pitchFamily="34" charset="0"/>
                        </a:rPr>
                        <a:t>Time Zone for the County/Parish, Zone or Marine Name. Eastern Standard Time (EST), Central Standard Time (CST), Mountain Standard Time (MST), etc. </a:t>
                      </a:r>
                      <a:endParaRPr lang="en-GB" sz="700" dirty="0">
                        <a:latin typeface="Avenir Next LT Pro" panose="020B0504020202020204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15944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marR="0" lvl="0" indent="0" algn="ctr" defTabSz="4140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dirty="0">
                          <a:latin typeface="Avenir Next LT Pro" panose="020B0504020202020204" pitchFamily="34" charset="0"/>
                        </a:rPr>
                        <a:t>SOURCE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140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dirty="0">
                          <a:latin typeface="Avenir Next LT Pro" panose="020B0504020202020204" pitchFamily="34" charset="0"/>
                        </a:rPr>
                        <a:t>String</a:t>
                      </a:r>
                      <a:endParaRPr lang="en-US" sz="700" dirty="0">
                        <a:latin typeface="Avenir Next LT Pro" panose="020B0504020202020204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700" dirty="0">
                          <a:latin typeface="Avenir Next LT Pro" panose="020B0504020202020204" pitchFamily="34" charset="0"/>
                        </a:rPr>
                        <a:t>-</a:t>
                      </a:r>
                      <a:endParaRPr lang="en-GB" sz="700" dirty="0">
                        <a:latin typeface="Avenir Next LT Pro" panose="020B0504020202020204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700" dirty="0">
                          <a:latin typeface="Avenir Next LT Pro" panose="020B0504020202020204" pitchFamily="34" charset="0"/>
                        </a:rPr>
                        <a:t>The source reporting the weather event (e.g., Public, Newspaper, Law Enforcement, Broadcast Media, ASOS, Park and Forest Service, Trained Spotter, CoCoRaHS,  etc.) . It can be any entry as it is not restricted to what is allowed.</a:t>
                      </a:r>
                      <a:endParaRPr lang="en-GB" sz="700" dirty="0">
                        <a:latin typeface="Avenir Next LT Pro" panose="020B0504020202020204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19926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marR="0" lvl="0" indent="0" algn="ctr" defTabSz="4140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dirty="0">
                          <a:latin typeface="Avenir Next LT Pro" panose="020B0504020202020204" pitchFamily="34" charset="0"/>
                        </a:rPr>
                        <a:t>EVENT_TYPE</a:t>
                      </a:r>
                      <a:endParaRPr lang="en-GB" sz="700" dirty="0">
                        <a:latin typeface="Avenir Next LT Pro" panose="020B0504020202020204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140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dirty="0">
                          <a:latin typeface="Avenir Next LT Pro" panose="020B0504020202020204" pitchFamily="34" charset="0"/>
                        </a:rPr>
                        <a:t>String</a:t>
                      </a:r>
                      <a:endParaRPr lang="en-GB" sz="700" dirty="0">
                        <a:latin typeface="Avenir Next LT Pro" panose="020B0504020202020204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700" dirty="0">
                          <a:latin typeface="Avenir Next LT Pro" panose="020B0504020202020204" pitchFamily="34" charset="0"/>
                        </a:rPr>
                        <a:t>-</a:t>
                      </a:r>
                      <a:endParaRPr lang="en-GB" sz="700" dirty="0">
                        <a:latin typeface="Avenir Next LT Pro" panose="020B0504020202020204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700" dirty="0">
                          <a:latin typeface="Avenir Next LT Pro" panose="020B0504020202020204" pitchFamily="34" charset="0"/>
                        </a:rPr>
                        <a:t>Type of events (e.g., riverine or </a:t>
                      </a:r>
                      <a:r>
                        <a:rPr lang="en-US" sz="700">
                          <a:latin typeface="Avenir Next LT Pro" panose="020B0504020202020204" pitchFamily="34" charset="0"/>
                        </a:rPr>
                        <a:t>flash floods). </a:t>
                      </a:r>
                      <a:r>
                        <a:rPr lang="en-US" sz="700" dirty="0">
                          <a:latin typeface="Avenir Next LT Pro" panose="020B0504020202020204" pitchFamily="34" charset="0"/>
                        </a:rPr>
                        <a:t>The only event types permitted in SED are listed in Table 1 of Section 2.1.1 of the NWS Directive 10-1605.</a:t>
                      </a:r>
                      <a:endParaRPr lang="en-GB" sz="700" dirty="0">
                        <a:latin typeface="Avenir Next LT Pro" panose="020B0504020202020204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979348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sz="700" dirty="0">
                          <a:latin typeface="Avenir Next LT Pro" panose="020B0504020202020204" pitchFamily="34" charset="0"/>
                        </a:rPr>
                        <a:t>FLOOD_CAUSE</a:t>
                      </a:r>
                      <a:endParaRPr lang="en-GB" sz="700" dirty="0">
                        <a:latin typeface="Avenir Next LT Pro" panose="020B0504020202020204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700" b="0" dirty="0">
                          <a:latin typeface="Avenir Next LT Pro" panose="020B0504020202020204" pitchFamily="34" charset="0"/>
                        </a:rPr>
                        <a:t>String</a:t>
                      </a:r>
                      <a:endParaRPr lang="en-GB" sz="700" dirty="0">
                        <a:latin typeface="Avenir Next LT Pro" panose="020B0504020202020204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700" dirty="0">
                          <a:latin typeface="Avenir Next LT Pro" panose="020B0504020202020204" pitchFamily="34" charset="0"/>
                        </a:rPr>
                        <a:t>-</a:t>
                      </a:r>
                      <a:endParaRPr lang="en-GB" sz="700" dirty="0">
                        <a:latin typeface="Avenir Next LT Pro" panose="020B0504020202020204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700" dirty="0">
                          <a:latin typeface="Avenir Next LT Pro" panose="020B0504020202020204" pitchFamily="34" charset="0"/>
                        </a:rPr>
                        <a:t>Reported or estimated cause of the flood. </a:t>
                      </a:r>
                      <a:endParaRPr lang="en-GB" sz="700" dirty="0">
                        <a:latin typeface="Avenir Next LT Pro" panose="020B0504020202020204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938607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sz="700" dirty="0">
                          <a:latin typeface="Avenir Next LT Pro" panose="020B0504020202020204" pitchFamily="34" charset="0"/>
                        </a:rPr>
                        <a:t>BEGIN_DATE_TIME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700" dirty="0">
                          <a:latin typeface="Avenir Next LT Pro" panose="020B0504020202020204" pitchFamily="34" charset="0"/>
                        </a:rPr>
                        <a:t>Date and Time</a:t>
                      </a:r>
                    </a:p>
                    <a:p>
                      <a:pPr algn="ctr"/>
                      <a:r>
                        <a:rPr lang="en-US" sz="700" dirty="0">
                          <a:latin typeface="Avenir Next LT Pro" panose="020B0504020202020204" pitchFamily="34" charset="0"/>
                        </a:rPr>
                        <a:t>(MM-DD-YYYY hh:mm:ss </a:t>
                      </a:r>
                    </a:p>
                    <a:p>
                      <a:pPr algn="ctr"/>
                      <a:r>
                        <a:rPr lang="en-US" sz="700" dirty="0">
                          <a:latin typeface="Avenir Next LT Pro" panose="020B0504020202020204" pitchFamily="34" charset="0"/>
                        </a:rPr>
                        <a:t>24-hour format)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700" dirty="0">
                          <a:latin typeface="Avenir Next LT Pro" panose="020B0504020202020204" pitchFamily="34" charset="0"/>
                        </a:rPr>
                        <a:t>UTC</a:t>
                      </a:r>
                      <a:endParaRPr lang="en-GB" sz="700" dirty="0">
                        <a:latin typeface="Avenir Next LT Pro" panose="020B0504020202020204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700" dirty="0">
                          <a:latin typeface="Avenir Next LT Pro" panose="020B0504020202020204" pitchFamily="34" charset="0"/>
                        </a:rPr>
                        <a:t>Date and time of the beginning of the flash flood event (e.g., Ice Jam, Heavy Rain, Heavy Rain/Snow Melt).</a:t>
                      </a:r>
                      <a:endParaRPr lang="en-GB" sz="700" dirty="0">
                        <a:latin typeface="Avenir Next LT Pro" panose="020B0504020202020204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127953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sz="700" dirty="0">
                          <a:latin typeface="Avenir Next LT Pro" panose="020B0504020202020204" pitchFamily="34" charset="0"/>
                        </a:rPr>
                        <a:t>END_DATE_TIME</a:t>
                      </a:r>
                      <a:endParaRPr lang="en-GB" sz="700" dirty="0">
                        <a:latin typeface="Avenir Next LT Pro" panose="020B0504020202020204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700" dirty="0">
                          <a:latin typeface="Avenir Next LT Pro" panose="020B0504020202020204" pitchFamily="34" charset="0"/>
                        </a:rPr>
                        <a:t>Date and Time</a:t>
                      </a:r>
                    </a:p>
                    <a:p>
                      <a:pPr algn="ctr"/>
                      <a:r>
                        <a:rPr lang="en-US" sz="700" dirty="0">
                          <a:latin typeface="Avenir Next LT Pro" panose="020B0504020202020204" pitchFamily="34" charset="0"/>
                        </a:rPr>
                        <a:t>(MM-DD-YYYY hh:mm:ss</a:t>
                      </a:r>
                    </a:p>
                    <a:p>
                      <a:pPr algn="ctr"/>
                      <a:r>
                        <a:rPr lang="en-US" sz="700" dirty="0">
                          <a:latin typeface="Avenir Next LT Pro" panose="020B0504020202020204" pitchFamily="34" charset="0"/>
                        </a:rPr>
                        <a:t>24-hour format)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700" dirty="0">
                          <a:latin typeface="Avenir Next LT Pro" panose="020B0504020202020204" pitchFamily="34" charset="0"/>
                        </a:rPr>
                        <a:t>UTC</a:t>
                      </a:r>
                      <a:endParaRPr lang="en-GB" sz="700" dirty="0">
                        <a:latin typeface="Avenir Next LT Pro" panose="020B0504020202020204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140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dirty="0">
                          <a:latin typeface="Avenir Next LT Pro" panose="020B0504020202020204" pitchFamily="34" charset="0"/>
                        </a:rPr>
                        <a:t>Date and time of the end of the flash flood event.</a:t>
                      </a:r>
                      <a:endParaRPr lang="en-GB" sz="700" dirty="0">
                        <a:latin typeface="Avenir Next LT Pro" panose="020B0504020202020204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349040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sz="700" dirty="0">
                          <a:latin typeface="Avenir Next LT Pro" panose="020B0504020202020204" pitchFamily="34" charset="0"/>
                        </a:rPr>
                        <a:t>BEGIN_LAT</a:t>
                      </a:r>
                      <a:endParaRPr lang="en-GB" sz="700" dirty="0">
                        <a:latin typeface="Avenir Next LT Pro" panose="020B0504020202020204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700" dirty="0">
                          <a:latin typeface="Avenir Next LT Pro" panose="020B0504020202020204" pitchFamily="34" charset="0"/>
                        </a:rPr>
                        <a:t>Float</a:t>
                      </a:r>
                      <a:endParaRPr lang="en-GB" sz="700" dirty="0">
                        <a:latin typeface="Avenir Next LT Pro" panose="020B0504020202020204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700" dirty="0">
                          <a:latin typeface="Avenir Next LT Pro" panose="020B0504020202020204" pitchFamily="34" charset="0"/>
                        </a:rPr>
                        <a:t>Decimal degrees</a:t>
                      </a:r>
                      <a:endParaRPr lang="en-GB" sz="700" dirty="0">
                        <a:latin typeface="Avenir Next LT Pro" panose="020B0504020202020204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140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dirty="0">
                          <a:latin typeface="Avenir Next LT Pro" panose="020B0504020202020204" pitchFamily="34" charset="0"/>
                        </a:rPr>
                        <a:t>The latitude of the begin point for the event or damage path. </a:t>
                      </a:r>
                      <a:endParaRPr lang="en-GB" sz="700" dirty="0">
                        <a:latin typeface="Avenir Next LT Pro" panose="020B0504020202020204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682993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sz="700" dirty="0">
                          <a:latin typeface="Avenir Next LT Pro" panose="020B0504020202020204" pitchFamily="34" charset="0"/>
                        </a:rPr>
                        <a:t>BEGIN_LON</a:t>
                      </a:r>
                      <a:endParaRPr lang="en-GB" sz="700" dirty="0">
                        <a:latin typeface="Avenir Next LT Pro" panose="020B0504020202020204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700" dirty="0">
                          <a:latin typeface="Avenir Next LT Pro" panose="020B0504020202020204" pitchFamily="34" charset="0"/>
                        </a:rPr>
                        <a:t>Float</a:t>
                      </a:r>
                      <a:endParaRPr lang="en-GB" sz="700" dirty="0">
                        <a:latin typeface="Avenir Next LT Pro" panose="020B0504020202020204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700" dirty="0">
                          <a:latin typeface="Avenir Next LT Pro" panose="020B0504020202020204" pitchFamily="34" charset="0"/>
                        </a:rPr>
                        <a:t>Decimal degrees</a:t>
                      </a:r>
                      <a:endParaRPr lang="en-GB" sz="700" dirty="0">
                        <a:latin typeface="Avenir Next LT Pro" panose="020B0504020202020204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140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dirty="0">
                          <a:latin typeface="Avenir Next LT Pro" panose="020B0504020202020204" pitchFamily="34" charset="0"/>
                        </a:rPr>
                        <a:t>The longitude of the begin point for the event or damage path. </a:t>
                      </a:r>
                      <a:endParaRPr lang="en-GB" sz="700" dirty="0">
                        <a:latin typeface="Avenir Next LT Pro" panose="020B0504020202020204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045282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sz="700" dirty="0">
                          <a:latin typeface="Avenir Next LT Pro" panose="020B0504020202020204" pitchFamily="34" charset="0"/>
                        </a:rPr>
                        <a:t>END_LAT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700" dirty="0">
                          <a:latin typeface="Avenir Next LT Pro" panose="020B0504020202020204" pitchFamily="34" charset="0"/>
                        </a:rPr>
                        <a:t>Float</a:t>
                      </a:r>
                      <a:endParaRPr lang="en-GB" sz="700" dirty="0">
                        <a:latin typeface="Avenir Next LT Pro" panose="020B0504020202020204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700" dirty="0">
                          <a:latin typeface="Avenir Next LT Pro" panose="020B0504020202020204" pitchFamily="34" charset="0"/>
                        </a:rPr>
                        <a:t>Decimal degrees</a:t>
                      </a:r>
                      <a:endParaRPr lang="en-GB" sz="700" dirty="0">
                        <a:latin typeface="Avenir Next LT Pro" panose="020B0504020202020204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140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dirty="0">
                          <a:latin typeface="Avenir Next LT Pro" panose="020B0504020202020204" pitchFamily="34" charset="0"/>
                        </a:rPr>
                        <a:t>The latitude of the end point for the event or damage path. </a:t>
                      </a:r>
                      <a:endParaRPr lang="en-GB" sz="700" dirty="0">
                        <a:latin typeface="Avenir Next LT Pro" panose="020B0504020202020204" pitchFamily="34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11824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/>
                      <a:r>
                        <a:rPr lang="en-US" sz="700" dirty="0">
                          <a:latin typeface="Avenir Next LT Pro" panose="020B0504020202020204" pitchFamily="34" charset="0"/>
                        </a:rPr>
                        <a:t>END_LON</a:t>
                      </a: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700" dirty="0">
                          <a:latin typeface="Avenir Next LT Pro" panose="020B0504020202020204" pitchFamily="34" charset="0"/>
                        </a:rPr>
                        <a:t>Float</a:t>
                      </a:r>
                      <a:endParaRPr lang="en-GB" sz="700" dirty="0">
                        <a:latin typeface="Avenir Next LT Pro" panose="020B0504020202020204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700" dirty="0">
                          <a:latin typeface="Avenir Next LT Pro" panose="020B0504020202020204" pitchFamily="34" charset="0"/>
                        </a:rPr>
                        <a:t>Decimal degrees</a:t>
                      </a:r>
                      <a:endParaRPr lang="en-GB" sz="700" dirty="0">
                        <a:latin typeface="Avenir Next LT Pro" panose="020B0504020202020204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1404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dirty="0">
                          <a:latin typeface="Avenir Next LT Pro" panose="020B0504020202020204" pitchFamily="34" charset="0"/>
                        </a:rPr>
                        <a:t>The longitude of the end point for the event or damage path. </a:t>
                      </a:r>
                      <a:endParaRPr lang="en-GB" sz="700" dirty="0">
                        <a:latin typeface="Avenir Next LT Pro" panose="020B0504020202020204" pitchFamily="34" charset="0"/>
                      </a:endParaRPr>
                    </a:p>
                  </a:txBody>
                  <a:tcPr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10634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03451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339</Words>
  <Application>Microsoft Office PowerPoint</Application>
  <PresentationFormat>Custom</PresentationFormat>
  <Paragraphs>56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Avenir Next LT Pro</vt:lpstr>
      <vt:lpstr>Avenir Next LT Pro Demi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Fatima Pillosu</dc:creator>
  <cp:lastModifiedBy>Fatima Maria Pillosu</cp:lastModifiedBy>
  <cp:revision>4</cp:revision>
  <dcterms:created xsi:type="dcterms:W3CDTF">2025-05-13T10:40:36Z</dcterms:created>
  <dcterms:modified xsi:type="dcterms:W3CDTF">2026-01-19T16:25:51Z</dcterms:modified>
</cp:coreProperties>
</file>