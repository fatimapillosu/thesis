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4140200" cy="5951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55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19T13:46:22.391" v="85" actId="20577"/>
      <pc:docMkLst>
        <pc:docMk/>
      </pc:docMkLst>
      <pc:sldChg chg="modSp mod">
        <pc:chgData name="Fatima Pillosu" userId="a6295d4dc9e22643" providerId="LiveId" clId="{87453732-75AC-4426-B5D3-B7C69C2D4F54}" dt="2026-01-19T13:46:22.391" v="85" actId="20577"/>
        <pc:sldMkLst>
          <pc:docMk/>
          <pc:sldMk cId="3020345181" sldId="257"/>
        </pc:sldMkLst>
        <pc:graphicFrameChg chg="modGraphic">
          <ac:chgData name="Fatima Pillosu" userId="a6295d4dc9e22643" providerId="LiveId" clId="{87453732-75AC-4426-B5D3-B7C69C2D4F54}" dt="2026-01-19T13:46:22.391" v="85" actId="20577"/>
          <ac:graphicFrameMkLst>
            <pc:docMk/>
            <pc:sldMk cId="3020345181" sldId="257"/>
            <ac:graphicFrameMk id="3" creationId="{15623DAB-A4E1-DF1C-9B96-E2C1CE9DE49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974014"/>
            <a:ext cx="3519170" cy="2072017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125936"/>
            <a:ext cx="3105150" cy="1436910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135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54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483753"/>
            <a:ext cx="3570923" cy="2475674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982848"/>
            <a:ext cx="3570923" cy="1301899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63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584322"/>
            <a:ext cx="1759585" cy="3776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584322"/>
            <a:ext cx="1759585" cy="3776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01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16865"/>
            <a:ext cx="3570923" cy="1150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458954"/>
            <a:ext cx="1751498" cy="715011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173965"/>
            <a:ext cx="1751498" cy="3197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458954"/>
            <a:ext cx="1760124" cy="715011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173965"/>
            <a:ext cx="1760124" cy="31975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5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25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48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96769"/>
            <a:ext cx="1335322" cy="1388692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856913"/>
            <a:ext cx="2095976" cy="4229449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785461"/>
            <a:ext cx="1335322" cy="330778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38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96769"/>
            <a:ext cx="1335322" cy="1388692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856913"/>
            <a:ext cx="2095976" cy="4229449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785461"/>
            <a:ext cx="1335322" cy="330778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86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92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16864"/>
            <a:ext cx="892731" cy="50436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16864"/>
            <a:ext cx="2626439" cy="50436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20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16865"/>
            <a:ext cx="3570923" cy="1150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584322"/>
            <a:ext cx="3570923" cy="3776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5516195"/>
            <a:ext cx="931545" cy="316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3EBC5-2BAE-4ECB-A995-B52653FE7498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5516195"/>
            <a:ext cx="1397318" cy="316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5516195"/>
            <a:ext cx="931545" cy="3168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1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623DAB-A4E1-DF1C-9B96-E2C1CE9DE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17537"/>
              </p:ext>
            </p:extLst>
          </p:nvPr>
        </p:nvGraphicFramePr>
        <p:xfrm>
          <a:off x="1" y="0"/>
          <a:ext cx="4140000" cy="60556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013253">
                  <a:extLst>
                    <a:ext uri="{9D8B030D-6E8A-4147-A177-3AD203B41FA5}">
                      <a16:colId xmlns:a16="http://schemas.microsoft.com/office/drawing/2014/main" val="1840348847"/>
                    </a:ext>
                  </a:extLst>
                </a:gridCol>
                <a:gridCol w="840260">
                  <a:extLst>
                    <a:ext uri="{9D8B030D-6E8A-4147-A177-3AD203B41FA5}">
                      <a16:colId xmlns:a16="http://schemas.microsoft.com/office/drawing/2014/main" val="1267378530"/>
                    </a:ext>
                  </a:extLst>
                </a:gridCol>
                <a:gridCol w="527221">
                  <a:extLst>
                    <a:ext uri="{9D8B030D-6E8A-4147-A177-3AD203B41FA5}">
                      <a16:colId xmlns:a16="http://schemas.microsoft.com/office/drawing/2014/main" val="3011250887"/>
                    </a:ext>
                  </a:extLst>
                </a:gridCol>
                <a:gridCol w="1759266">
                  <a:extLst>
                    <a:ext uri="{9D8B030D-6E8A-4147-A177-3AD203B41FA5}">
                      <a16:colId xmlns:a16="http://schemas.microsoft.com/office/drawing/2014/main" val="9507654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Key</a:t>
                      </a:r>
                      <a:endParaRPr lang="en-GB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Type</a:t>
                      </a:r>
                      <a:endParaRPr lang="en-GB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Units</a:t>
                      </a:r>
                      <a:endParaRPr lang="en-GB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Description</a:t>
                      </a:r>
                      <a:endParaRPr lang="en-GB" sz="7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465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EVENT_ID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String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-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ID assigned by NWS for each individual storm event contained within a storm episode.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275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STATE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String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-</a:t>
                      </a:r>
                      <a:endParaRPr lang="en-GB" sz="700" b="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The (spelt out) name of the state where the event occurred.</a:t>
                      </a:r>
                      <a:endParaRPr lang="en-GB" sz="700" b="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776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CZ_TIMEZONE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String</a:t>
                      </a:r>
                      <a:endParaRPr lang="en-US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-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Time Zone for the County/Parish, Zone or Marine Name. Eastern Standard Time (EST), Central Standard Time (CST), Mountain Standard Time (MST), etc. 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594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SOURCE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String</a:t>
                      </a:r>
                      <a:endParaRPr lang="en-US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-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The source reporting the weather event (e.g., Public, Newspaper, Law Enforcement, Broadcast Media, ASOS, Park and Forest Service, Trained Spotter, CoCoRaHS,  etc.) . It can be any entry as it is not restricted to what is allowed.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926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EVENT_TYPE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String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-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Type of events (e.g., riverine or </a:t>
                      </a:r>
                      <a:r>
                        <a:rPr lang="en-US" sz="700">
                          <a:latin typeface="Avenir Next LT Pro" panose="020B0504020202020204" pitchFamily="34" charset="0"/>
                        </a:rPr>
                        <a:t>flash floods). </a:t>
                      </a: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The only event types permitted in SED are listed in Table 1 of Section 2.1.1 of the NWS Directive 10-1605.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934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FLOOD_CAUSE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0" dirty="0">
                          <a:latin typeface="Avenir Next LT Pro" panose="020B0504020202020204" pitchFamily="34" charset="0"/>
                        </a:rPr>
                        <a:t>String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-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Reported or estimated cause of the flood. 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860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BEGIN_DATE_TIME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Date and Time</a:t>
                      </a:r>
                    </a:p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(MM-DD-YYYY hh:mm:ss </a:t>
                      </a:r>
                    </a:p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24-hour format)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UTC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Date and time of the beginning of the flash flood event (e.g., Ice Jam, Heavy Rain, Heavy Rain/Snow Melt).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795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END_DATE_TIME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Date and Time</a:t>
                      </a:r>
                    </a:p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(MM-DD-YYYY hh:mm:ss</a:t>
                      </a:r>
                    </a:p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24-hour format)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UTC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Date and time of the end of the flash flood event.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4904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BEGIN_LAT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Float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Decimal degrees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The latitude of the begin point for the event or damage path. 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82993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BEGIN_LON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Float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Decimal degrees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The longitude of the begin point for the event or damage path. 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45282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END_LAT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Float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Decimal degrees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The latitude of the end point for the event or damage path. 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82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END_LON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Float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Decimal degrees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latin typeface="Avenir Next LT Pro" panose="020B0504020202020204" pitchFamily="34" charset="0"/>
                        </a:rPr>
                        <a:t>The longitude of the end point for the event or damage path. </a:t>
                      </a:r>
                      <a:endParaRPr lang="en-GB" sz="7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06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34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339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Next LT Pro</vt:lpstr>
      <vt:lpstr>Avenir Next LT Pro Demi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4</cp:revision>
  <dcterms:created xsi:type="dcterms:W3CDTF">2025-05-13T10:40:36Z</dcterms:created>
  <dcterms:modified xsi:type="dcterms:W3CDTF">2026-01-19T13:46:24Z</dcterms:modified>
</cp:coreProperties>
</file>