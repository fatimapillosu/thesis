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8" r:id="rId2"/>
    <p:sldId id="257" r:id="rId3"/>
    <p:sldId id="259" r:id="rId4"/>
  </p:sldIdLst>
  <p:sldSz cx="4140200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CC"/>
    <a:srgbClr val="2CA58D"/>
    <a:srgbClr val="009900"/>
    <a:srgbClr val="F2F2F2"/>
    <a:srgbClr val="800080"/>
    <a:srgbClr val="33CC33"/>
    <a:srgbClr val="FF0066"/>
    <a:srgbClr val="3A0CA3"/>
    <a:srgbClr val="E98A15"/>
    <a:srgbClr val="8338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 autoAdjust="0"/>
    <p:restoredTop sz="96247" autoAdjust="0"/>
  </p:normalViewPr>
  <p:slideViewPr>
    <p:cSldViewPr snapToGrid="0">
      <p:cViewPr varScale="1">
        <p:scale>
          <a:sx n="113" d="100"/>
          <a:sy n="113" d="100"/>
        </p:scale>
        <p:origin x="350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modSld">
      <pc:chgData name="Fatima Pillosu" userId="a6295d4dc9e22643" providerId="LiveId" clId="{87453732-75AC-4426-B5D3-B7C69C2D4F54}" dt="2026-01-23T10:08:23.728" v="12" actId="20577"/>
      <pc:docMkLst>
        <pc:docMk/>
      </pc:docMkLst>
      <pc:sldChg chg="modSp mod">
        <pc:chgData name="Fatima Pillosu" userId="a6295d4dc9e22643" providerId="LiveId" clId="{87453732-75AC-4426-B5D3-B7C69C2D4F54}" dt="2026-01-23T10:08:23.728" v="12" actId="20577"/>
        <pc:sldMkLst>
          <pc:docMk/>
          <pc:sldMk cId="2370713982" sldId="258"/>
        </pc:sldMkLst>
        <pc:spChg chg="mod">
          <ac:chgData name="Fatima Pillosu" userId="a6295d4dc9e22643" providerId="LiveId" clId="{87453732-75AC-4426-B5D3-B7C69C2D4F54}" dt="2026-01-23T10:08:23.728" v="12" actId="20577"/>
          <ac:spMkLst>
            <pc:docMk/>
            <pc:sldMk cId="2370713982" sldId="258"/>
            <ac:spMk id="355" creationId="{6E3975A0-04BD-A32C-5C8E-87D363BCBF4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515" y="1060529"/>
            <a:ext cx="3519170" cy="2256061"/>
          </a:xfrm>
        </p:spPr>
        <p:txBody>
          <a:bodyPr anchor="b"/>
          <a:lstStyle>
            <a:lvl1pPr algn="ctr"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25" y="3403592"/>
            <a:ext cx="3105150" cy="1564542"/>
          </a:xfrm>
        </p:spPr>
        <p:txBody>
          <a:bodyPr/>
          <a:lstStyle>
            <a:lvl1pPr marL="0" indent="0" algn="ctr">
              <a:buNone/>
              <a:defRPr sz="1087"/>
            </a:lvl1pPr>
            <a:lvl2pPr marL="207020" indent="0" algn="ctr">
              <a:buNone/>
              <a:defRPr sz="906"/>
            </a:lvl2pPr>
            <a:lvl3pPr marL="414040" indent="0" algn="ctr">
              <a:buNone/>
              <a:defRPr sz="815"/>
            </a:lvl3pPr>
            <a:lvl4pPr marL="621060" indent="0" algn="ctr">
              <a:buNone/>
              <a:defRPr sz="724"/>
            </a:lvl4pPr>
            <a:lvl5pPr marL="828081" indent="0" algn="ctr">
              <a:buNone/>
              <a:defRPr sz="724"/>
            </a:lvl5pPr>
            <a:lvl6pPr marL="1035101" indent="0" algn="ctr">
              <a:buNone/>
              <a:defRPr sz="724"/>
            </a:lvl6pPr>
            <a:lvl7pPr marL="1242121" indent="0" algn="ctr">
              <a:buNone/>
              <a:defRPr sz="724"/>
            </a:lvl7pPr>
            <a:lvl8pPr marL="1449141" indent="0" algn="ctr">
              <a:buNone/>
              <a:defRPr sz="724"/>
            </a:lvl8pPr>
            <a:lvl9pPr marL="1656161" indent="0" algn="ctr">
              <a:buNone/>
              <a:defRPr sz="7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26F86-B123-4002-8175-586B5E8ACF57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B8AB-8A66-4EEF-88A7-9198C0EAD3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1007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26F86-B123-4002-8175-586B5E8ACF57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B8AB-8A66-4EEF-88A7-9198C0EAD3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266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82" y="1615546"/>
            <a:ext cx="3570923" cy="2695572"/>
          </a:xfrm>
        </p:spPr>
        <p:txBody>
          <a:bodyPr anchor="b"/>
          <a:lstStyle>
            <a:lvl1pPr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82" y="4336619"/>
            <a:ext cx="3570923" cy="1417538"/>
          </a:xfrm>
        </p:spPr>
        <p:txBody>
          <a:bodyPr/>
          <a:lstStyle>
            <a:lvl1pPr marL="0" indent="0">
              <a:buNone/>
              <a:defRPr sz="1087">
                <a:solidFill>
                  <a:schemeClr val="tx1">
                    <a:tint val="82000"/>
                  </a:schemeClr>
                </a:solidFill>
              </a:defRPr>
            </a:lvl1pPr>
            <a:lvl2pPr marL="207020" indent="0">
              <a:buNone/>
              <a:defRPr sz="906">
                <a:solidFill>
                  <a:schemeClr val="tx1">
                    <a:tint val="82000"/>
                  </a:schemeClr>
                </a:solidFill>
              </a:defRPr>
            </a:lvl2pPr>
            <a:lvl3pPr marL="414040" indent="0">
              <a:buNone/>
              <a:defRPr sz="815">
                <a:solidFill>
                  <a:schemeClr val="tx1">
                    <a:tint val="82000"/>
                  </a:schemeClr>
                </a:solidFill>
              </a:defRPr>
            </a:lvl3pPr>
            <a:lvl4pPr marL="621060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4pPr>
            <a:lvl5pPr marL="82808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5pPr>
            <a:lvl6pPr marL="103510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6pPr>
            <a:lvl7pPr marL="124212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7pPr>
            <a:lvl8pPr marL="144914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8pPr>
            <a:lvl9pPr marL="165616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26F86-B123-4002-8175-586B5E8ACF57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B8AB-8A66-4EEF-88A7-9198C0EAD3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386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39" y="1725046"/>
            <a:ext cx="1759585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976" y="1725046"/>
            <a:ext cx="1759585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26F86-B123-4002-8175-586B5E8ACF57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B8AB-8A66-4EEF-88A7-9198C0EAD3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23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345011"/>
            <a:ext cx="3570923" cy="1252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79" y="1588543"/>
            <a:ext cx="1751498" cy="778521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79" y="2367064"/>
            <a:ext cx="1751498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977" y="1588543"/>
            <a:ext cx="1760124" cy="778521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977" y="2367064"/>
            <a:ext cx="1760124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26F86-B123-4002-8175-586B5E8ACF57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B8AB-8A66-4EEF-88A7-9198C0EAD3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0748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26F86-B123-4002-8175-586B5E8ACF57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B8AB-8A66-4EEF-88A7-9198C0EAD3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1547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26F86-B123-4002-8175-586B5E8ACF57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B8AB-8A66-4EEF-88A7-9198C0EAD3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424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432012"/>
            <a:ext cx="1335322" cy="1512041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124" y="933027"/>
            <a:ext cx="2095976" cy="4605124"/>
          </a:xfrm>
        </p:spPr>
        <p:txBody>
          <a:bodyPr/>
          <a:lstStyle>
            <a:lvl1pPr>
              <a:defRPr sz="1449"/>
            </a:lvl1pPr>
            <a:lvl2pPr>
              <a:defRPr sz="1268"/>
            </a:lvl2pPr>
            <a:lvl3pPr>
              <a:defRPr sz="1087"/>
            </a:lvl3pPr>
            <a:lvl4pPr>
              <a:defRPr sz="906"/>
            </a:lvl4pPr>
            <a:lvl5pPr>
              <a:defRPr sz="906"/>
            </a:lvl5pPr>
            <a:lvl6pPr>
              <a:defRPr sz="906"/>
            </a:lvl6pPr>
            <a:lvl7pPr>
              <a:defRPr sz="906"/>
            </a:lvl7pPr>
            <a:lvl8pPr>
              <a:defRPr sz="906"/>
            </a:lvl8pPr>
            <a:lvl9pPr>
              <a:defRPr sz="9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944052"/>
            <a:ext cx="1335322" cy="3601598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26F86-B123-4002-8175-586B5E8ACF57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B8AB-8A66-4EEF-88A7-9198C0EAD3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160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432012"/>
            <a:ext cx="1335322" cy="1512041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124" y="933027"/>
            <a:ext cx="2095976" cy="4605124"/>
          </a:xfrm>
        </p:spPr>
        <p:txBody>
          <a:bodyPr anchor="t"/>
          <a:lstStyle>
            <a:lvl1pPr marL="0" indent="0">
              <a:buNone/>
              <a:defRPr sz="1449"/>
            </a:lvl1pPr>
            <a:lvl2pPr marL="207020" indent="0">
              <a:buNone/>
              <a:defRPr sz="1268"/>
            </a:lvl2pPr>
            <a:lvl3pPr marL="414040" indent="0">
              <a:buNone/>
              <a:defRPr sz="1087"/>
            </a:lvl3pPr>
            <a:lvl4pPr marL="621060" indent="0">
              <a:buNone/>
              <a:defRPr sz="906"/>
            </a:lvl4pPr>
            <a:lvl5pPr marL="828081" indent="0">
              <a:buNone/>
              <a:defRPr sz="906"/>
            </a:lvl5pPr>
            <a:lvl6pPr marL="1035101" indent="0">
              <a:buNone/>
              <a:defRPr sz="906"/>
            </a:lvl6pPr>
            <a:lvl7pPr marL="1242121" indent="0">
              <a:buNone/>
              <a:defRPr sz="906"/>
            </a:lvl7pPr>
            <a:lvl8pPr marL="1449141" indent="0">
              <a:buNone/>
              <a:defRPr sz="906"/>
            </a:lvl8pPr>
            <a:lvl9pPr marL="1656161" indent="0">
              <a:buNone/>
              <a:defRPr sz="9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944052"/>
            <a:ext cx="1335322" cy="3601598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26F86-B123-4002-8175-586B5E8ACF57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B8AB-8A66-4EEF-88A7-9198C0EAD3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9244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26F86-B123-4002-8175-586B5E8ACF57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B8AB-8A66-4EEF-88A7-9198C0EAD3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2851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831" y="345009"/>
            <a:ext cx="892731" cy="54916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39" y="345009"/>
            <a:ext cx="2626439" cy="54916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26F86-B123-4002-8175-586B5E8ACF57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B8AB-8A66-4EEF-88A7-9198C0EAD3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982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39" y="345011"/>
            <a:ext cx="3570923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39" y="1725046"/>
            <a:ext cx="3570923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39" y="6006164"/>
            <a:ext cx="93154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226F86-B123-4002-8175-586B5E8ACF57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441" y="6006164"/>
            <a:ext cx="1397318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4016" y="6006164"/>
            <a:ext cx="93154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0CB8AB-8A66-4EEF-88A7-9198C0EAD3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8611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414040" rtl="0" eaLnBrk="1" latinLnBrk="0" hangingPunct="1">
        <a:lnSpc>
          <a:spcPct val="90000"/>
        </a:lnSpc>
        <a:spcBef>
          <a:spcPct val="0"/>
        </a:spcBef>
        <a:buNone/>
        <a:defRPr sz="1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510" indent="-103510" algn="l" defTabSz="414040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268" kern="1200">
          <a:solidFill>
            <a:schemeClr val="tx1"/>
          </a:solidFill>
          <a:latin typeface="+mn-lt"/>
          <a:ea typeface="+mn-ea"/>
          <a:cs typeface="+mn-cs"/>
        </a:defRPr>
      </a:lvl1pPr>
      <a:lvl2pPr marL="31053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2pPr>
      <a:lvl3pPr marL="51755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906" kern="1200">
          <a:solidFill>
            <a:schemeClr val="tx1"/>
          </a:solidFill>
          <a:latin typeface="+mn-lt"/>
          <a:ea typeface="+mn-ea"/>
          <a:cs typeface="+mn-cs"/>
        </a:defRPr>
      </a:lvl3pPr>
      <a:lvl4pPr marL="7245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93159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13861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34563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55265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7596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1pPr>
      <a:lvl2pPr marL="20702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2pPr>
      <a:lvl3pPr marL="41404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3pPr>
      <a:lvl4pPr marL="62106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82808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03510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24212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44914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65616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867B4-0347-985F-84EE-2120EAAEA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2" name="Straight Arrow Connector 351">
            <a:extLst>
              <a:ext uri="{FF2B5EF4-FFF2-40B4-BE49-F238E27FC236}">
                <a16:creationId xmlns:a16="http://schemas.microsoft.com/office/drawing/2014/main" id="{6B2B5BF2-676C-E1AE-BA62-2F7C9F6C9C70}"/>
              </a:ext>
            </a:extLst>
          </p:cNvPr>
          <p:cNvCxnSpPr>
            <a:cxnSpLocks/>
          </p:cNvCxnSpPr>
          <p:nvPr/>
        </p:nvCxnSpPr>
        <p:spPr>
          <a:xfrm>
            <a:off x="1664406" y="4535767"/>
            <a:ext cx="0" cy="90000"/>
          </a:xfrm>
          <a:prstGeom prst="straightConnector1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Arrow Connector 352">
            <a:extLst>
              <a:ext uri="{FF2B5EF4-FFF2-40B4-BE49-F238E27FC236}">
                <a16:creationId xmlns:a16="http://schemas.microsoft.com/office/drawing/2014/main" id="{C03C5827-406F-B7CA-16D5-2D1C3286C854}"/>
              </a:ext>
            </a:extLst>
          </p:cNvPr>
          <p:cNvCxnSpPr>
            <a:cxnSpLocks/>
            <a:stCxn id="358" idx="2"/>
            <a:endCxn id="354" idx="0"/>
          </p:cNvCxnSpPr>
          <p:nvPr/>
        </p:nvCxnSpPr>
        <p:spPr>
          <a:xfrm>
            <a:off x="3663888" y="2986513"/>
            <a:ext cx="3103" cy="1500211"/>
          </a:xfrm>
          <a:prstGeom prst="straightConnector1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4" name="Rectangle 353">
            <a:extLst>
              <a:ext uri="{FF2B5EF4-FFF2-40B4-BE49-F238E27FC236}">
                <a16:creationId xmlns:a16="http://schemas.microsoft.com/office/drawing/2014/main" id="{37757665-AC28-C2D7-9288-A4F262BEDCA5}"/>
              </a:ext>
            </a:extLst>
          </p:cNvPr>
          <p:cNvSpPr/>
          <p:nvPr/>
        </p:nvSpPr>
        <p:spPr>
          <a:xfrm>
            <a:off x="3158824" y="4486724"/>
            <a:ext cx="1016334" cy="67885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rgbClr val="2CA58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Test predictions (through </a:t>
            </a:r>
            <a:r>
              <a:rPr lang="en-GB" sz="800" b="1" dirty="0">
                <a:solidFill>
                  <a:srgbClr val="2CA58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AUC-PR</a:t>
            </a:r>
            <a:r>
              <a:rPr lang="en-GB" sz="800" dirty="0">
                <a:solidFill>
                  <a:srgbClr val="2CA58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lang="en-GB" sz="800" b="1" dirty="0">
                <a:solidFill>
                  <a:srgbClr val="2CA58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AUC-ROC</a:t>
            </a:r>
            <a:r>
              <a:rPr lang="en-GB" sz="800" dirty="0">
                <a:solidFill>
                  <a:srgbClr val="2CA58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 over the corresponding outer test dataset</a:t>
            </a: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6E3975A0-04BD-A32C-5C8E-87D363BCBF43}"/>
              </a:ext>
            </a:extLst>
          </p:cNvPr>
          <p:cNvSpPr/>
          <p:nvPr/>
        </p:nvSpPr>
        <p:spPr>
          <a:xfrm>
            <a:off x="-78147" y="-21239"/>
            <a:ext cx="4335187" cy="34870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Repeated stratified nested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cross-validation</a:t>
            </a:r>
          </a:p>
          <a:p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 hyperparameter tuning and model’s generalisation capabilities</a:t>
            </a: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EC3C4672-BBD3-831C-7CA8-0C6A492C9F9C}"/>
              </a:ext>
            </a:extLst>
          </p:cNvPr>
          <p:cNvSpPr/>
          <p:nvPr/>
        </p:nvSpPr>
        <p:spPr>
          <a:xfrm>
            <a:off x="490149" y="390214"/>
            <a:ext cx="3159903" cy="264384"/>
          </a:xfrm>
          <a:prstGeom prst="rect">
            <a:avLst/>
          </a:prstGeom>
          <a:solidFill>
            <a:srgbClr val="800080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u="sn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Imbalanced</a:t>
            </a:r>
            <a:r>
              <a:rPr lang="en-GB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training dataset (from 2001 to 2020)</a:t>
            </a:r>
          </a:p>
          <a:p>
            <a:pPr algn="ctr"/>
            <a:r>
              <a:rPr lang="en-GB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 = 19.75M gridded data points, of which 53245 (0.27%) are yes-events</a:t>
            </a:r>
          </a:p>
        </p:txBody>
      </p:sp>
      <p:cxnSp>
        <p:nvCxnSpPr>
          <p:cNvPr id="357" name="Straight Arrow Connector 356">
            <a:extLst>
              <a:ext uri="{FF2B5EF4-FFF2-40B4-BE49-F238E27FC236}">
                <a16:creationId xmlns:a16="http://schemas.microsoft.com/office/drawing/2014/main" id="{7DC2AC43-F265-6066-8ACE-435A1F981070}"/>
              </a:ext>
            </a:extLst>
          </p:cNvPr>
          <p:cNvCxnSpPr>
            <a:cxnSpLocks/>
          </p:cNvCxnSpPr>
          <p:nvPr/>
        </p:nvCxnSpPr>
        <p:spPr>
          <a:xfrm>
            <a:off x="2070101" y="658828"/>
            <a:ext cx="0" cy="90000"/>
          </a:xfrm>
          <a:prstGeom prst="straightConnector1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" name="Rectangle 357">
            <a:extLst>
              <a:ext uri="{FF2B5EF4-FFF2-40B4-BE49-F238E27FC236}">
                <a16:creationId xmlns:a16="http://schemas.microsoft.com/office/drawing/2014/main" id="{66347620-DBE3-A5F5-F8A3-7C2F7C6EBDE6}"/>
              </a:ext>
            </a:extLst>
          </p:cNvPr>
          <p:cNvSpPr/>
          <p:nvPr/>
        </p:nvSpPr>
        <p:spPr>
          <a:xfrm>
            <a:off x="3303888" y="2806513"/>
            <a:ext cx="720000" cy="180000"/>
          </a:xfrm>
          <a:prstGeom prst="rect">
            <a:avLst/>
          </a:prstGeom>
          <a:solidFill>
            <a:srgbClr val="2CA58D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rgbClr val="F2F2F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Outer Test</a:t>
            </a: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4DC959A9-7C89-6A9D-8C2C-4CCD3B47ECC5}"/>
              </a:ext>
            </a:extLst>
          </p:cNvPr>
          <p:cNvSpPr txBox="1"/>
          <p:nvPr/>
        </p:nvSpPr>
        <p:spPr>
          <a:xfrm>
            <a:off x="3303887" y="2639683"/>
            <a:ext cx="720000" cy="215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2CA58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20 %</a:t>
            </a:r>
          </a:p>
        </p:txBody>
      </p:sp>
      <p:cxnSp>
        <p:nvCxnSpPr>
          <p:cNvPr id="360" name="Straight Arrow Connector 359">
            <a:extLst>
              <a:ext uri="{FF2B5EF4-FFF2-40B4-BE49-F238E27FC236}">
                <a16:creationId xmlns:a16="http://schemas.microsoft.com/office/drawing/2014/main" id="{B54C17C6-3C4D-8A4F-59E1-33BB2363B4F2}"/>
              </a:ext>
            </a:extLst>
          </p:cNvPr>
          <p:cNvCxnSpPr>
            <a:cxnSpLocks/>
          </p:cNvCxnSpPr>
          <p:nvPr/>
        </p:nvCxnSpPr>
        <p:spPr>
          <a:xfrm>
            <a:off x="1268048" y="2374593"/>
            <a:ext cx="1968793" cy="272657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Arrow Connector 360">
            <a:extLst>
              <a:ext uri="{FF2B5EF4-FFF2-40B4-BE49-F238E27FC236}">
                <a16:creationId xmlns:a16="http://schemas.microsoft.com/office/drawing/2014/main" id="{256D26E3-8C15-B026-B526-6022B54CCA43}"/>
              </a:ext>
            </a:extLst>
          </p:cNvPr>
          <p:cNvCxnSpPr>
            <a:cxnSpLocks/>
          </p:cNvCxnSpPr>
          <p:nvPr/>
        </p:nvCxnSpPr>
        <p:spPr>
          <a:xfrm>
            <a:off x="89284" y="2372138"/>
            <a:ext cx="27027" cy="275112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Arrow Connector 361">
            <a:extLst>
              <a:ext uri="{FF2B5EF4-FFF2-40B4-BE49-F238E27FC236}">
                <a16:creationId xmlns:a16="http://schemas.microsoft.com/office/drawing/2014/main" id="{8B8A5069-7969-C164-8418-15F4BE24B20F}"/>
              </a:ext>
            </a:extLst>
          </p:cNvPr>
          <p:cNvCxnSpPr>
            <a:cxnSpLocks/>
          </p:cNvCxnSpPr>
          <p:nvPr/>
        </p:nvCxnSpPr>
        <p:spPr>
          <a:xfrm>
            <a:off x="2070100" y="5209747"/>
            <a:ext cx="0" cy="90000"/>
          </a:xfrm>
          <a:prstGeom prst="straightConnector1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3" name="Parallelogram 362">
            <a:extLst>
              <a:ext uri="{FF2B5EF4-FFF2-40B4-BE49-F238E27FC236}">
                <a16:creationId xmlns:a16="http://schemas.microsoft.com/office/drawing/2014/main" id="{1A0731B8-37BC-29FF-5EFB-3505DFCBB060}"/>
              </a:ext>
            </a:extLst>
          </p:cNvPr>
          <p:cNvSpPr/>
          <p:nvPr/>
        </p:nvSpPr>
        <p:spPr>
          <a:xfrm>
            <a:off x="591010" y="5318569"/>
            <a:ext cx="2976579" cy="444575"/>
          </a:xfrm>
          <a:prstGeom prst="parallelogram">
            <a:avLst>
              <a:gd name="adj" fmla="val 127245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Select best-performing fold, and </a:t>
            </a:r>
          </a:p>
          <a:p>
            <a:pPr algn="ctr"/>
            <a:r>
              <a:rPr lang="en-GB" sz="800" dirty="0">
                <a:solidFill>
                  <a:srgbClr val="80008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train it over the original training dataset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/>
            <a:r>
              <a:rPr lang="en-GB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(model ready for operational deployment)</a:t>
            </a: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5382C8C2-6F3C-50EB-0A51-B5F6DC1665D1}"/>
              </a:ext>
            </a:extLst>
          </p:cNvPr>
          <p:cNvSpPr/>
          <p:nvPr/>
        </p:nvSpPr>
        <p:spPr>
          <a:xfrm>
            <a:off x="581957" y="3168882"/>
            <a:ext cx="846000" cy="180000"/>
          </a:xfrm>
          <a:prstGeom prst="rect">
            <a:avLst/>
          </a:prstGeom>
          <a:solidFill>
            <a:srgbClr val="E98A1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Inner Validation</a:t>
            </a: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AFE3A951-104C-CEDE-A21D-544D4B214711}"/>
              </a:ext>
            </a:extLst>
          </p:cNvPr>
          <p:cNvSpPr/>
          <p:nvPr/>
        </p:nvSpPr>
        <p:spPr>
          <a:xfrm>
            <a:off x="1454957" y="3168882"/>
            <a:ext cx="846000" cy="180000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Inner Training</a:t>
            </a:r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F81123FD-1880-7B13-64BB-A61B32D6C3FC}"/>
              </a:ext>
            </a:extLst>
          </p:cNvPr>
          <p:cNvSpPr/>
          <p:nvPr/>
        </p:nvSpPr>
        <p:spPr>
          <a:xfrm>
            <a:off x="2327957" y="3168882"/>
            <a:ext cx="846000" cy="180000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Inner Training</a:t>
            </a: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68F25C0E-89BD-9175-A93B-76E013FBF0DD}"/>
              </a:ext>
            </a:extLst>
          </p:cNvPr>
          <p:cNvSpPr/>
          <p:nvPr/>
        </p:nvSpPr>
        <p:spPr>
          <a:xfrm>
            <a:off x="581957" y="3380148"/>
            <a:ext cx="846000" cy="180000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Inner Training</a:t>
            </a: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96248778-630E-7601-4FAE-FF9CFCDF1B42}"/>
              </a:ext>
            </a:extLst>
          </p:cNvPr>
          <p:cNvSpPr/>
          <p:nvPr/>
        </p:nvSpPr>
        <p:spPr>
          <a:xfrm>
            <a:off x="1454957" y="3380148"/>
            <a:ext cx="846000" cy="180000"/>
          </a:xfrm>
          <a:prstGeom prst="rect">
            <a:avLst/>
          </a:prstGeom>
          <a:solidFill>
            <a:srgbClr val="E98A1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Inner Validation</a:t>
            </a: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9CADC630-E44A-1A89-9FDE-8EDA7123B19C}"/>
              </a:ext>
            </a:extLst>
          </p:cNvPr>
          <p:cNvSpPr/>
          <p:nvPr/>
        </p:nvSpPr>
        <p:spPr>
          <a:xfrm>
            <a:off x="2327957" y="3380148"/>
            <a:ext cx="846000" cy="180000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Inner Training</a:t>
            </a: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EAF3C8BC-9003-987C-E4A9-44A032A5528E}"/>
              </a:ext>
            </a:extLst>
          </p:cNvPr>
          <p:cNvSpPr/>
          <p:nvPr/>
        </p:nvSpPr>
        <p:spPr>
          <a:xfrm>
            <a:off x="581957" y="3583447"/>
            <a:ext cx="846000" cy="180000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Inner Training</a:t>
            </a: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28B436EB-88AE-9EF3-EB76-64B6D1FB6EEB}"/>
              </a:ext>
            </a:extLst>
          </p:cNvPr>
          <p:cNvSpPr/>
          <p:nvPr/>
        </p:nvSpPr>
        <p:spPr>
          <a:xfrm>
            <a:off x="1454957" y="3583447"/>
            <a:ext cx="846000" cy="180000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Inner Training</a:t>
            </a: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F27C24D0-AB2A-41DB-6171-C0B6ED9E9A68}"/>
              </a:ext>
            </a:extLst>
          </p:cNvPr>
          <p:cNvSpPr/>
          <p:nvPr/>
        </p:nvSpPr>
        <p:spPr>
          <a:xfrm>
            <a:off x="2327957" y="3583447"/>
            <a:ext cx="846000" cy="180000"/>
          </a:xfrm>
          <a:prstGeom prst="rect">
            <a:avLst/>
          </a:prstGeom>
          <a:solidFill>
            <a:srgbClr val="E98A1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Inner Validation</a:t>
            </a: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41C377DF-3C36-42E1-684D-12BC83DB59C3}"/>
              </a:ext>
            </a:extLst>
          </p:cNvPr>
          <p:cNvSpPr/>
          <p:nvPr/>
        </p:nvSpPr>
        <p:spPr>
          <a:xfrm>
            <a:off x="410199" y="3759093"/>
            <a:ext cx="2888472" cy="41341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rgbClr val="FF006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Train each candidate hyperparameters set over (k_inner - 1) splits (maximising </a:t>
            </a:r>
            <a:r>
              <a:rPr lang="en-GB" sz="800" b="1" dirty="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AUC-PR</a:t>
            </a:r>
            <a:r>
              <a:rPr lang="en-GB" sz="800" dirty="0">
                <a:solidFill>
                  <a:srgbClr val="FF006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lang="en-GB" sz="800" b="1" dirty="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AUC-ROC)</a:t>
            </a:r>
            <a:r>
              <a:rPr lang="en-GB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lang="en-GB" sz="800" dirty="0">
                <a:solidFill>
                  <a:srgbClr val="E98A1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validate over 1 split </a:t>
            </a:r>
          </a:p>
          <a:p>
            <a:pPr algn="ctr"/>
            <a:r>
              <a:rPr lang="en-GB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Score for single trial = average of k_inner scores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CC497459-D1DC-EE9A-EE1D-815F28D2818C}"/>
              </a:ext>
            </a:extLst>
          </p:cNvPr>
          <p:cNvSpPr/>
          <p:nvPr/>
        </p:nvSpPr>
        <p:spPr>
          <a:xfrm>
            <a:off x="574923" y="3006961"/>
            <a:ext cx="846000" cy="18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INNER</a:t>
            </a:r>
            <a:r>
              <a:rPr lang="en-GB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fold 1</a:t>
            </a: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8A74094E-C336-74AA-E520-6856C354301A}"/>
              </a:ext>
            </a:extLst>
          </p:cNvPr>
          <p:cNvSpPr/>
          <p:nvPr/>
        </p:nvSpPr>
        <p:spPr>
          <a:xfrm>
            <a:off x="1447923" y="3006961"/>
            <a:ext cx="846000" cy="18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INNER</a:t>
            </a:r>
            <a:r>
              <a:rPr lang="en-GB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fold 2</a:t>
            </a:r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10B23706-9C8A-69A2-B423-B2EEB1C4D06D}"/>
              </a:ext>
            </a:extLst>
          </p:cNvPr>
          <p:cNvSpPr/>
          <p:nvPr/>
        </p:nvSpPr>
        <p:spPr>
          <a:xfrm>
            <a:off x="2320923" y="3006961"/>
            <a:ext cx="846000" cy="18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INNER</a:t>
            </a:r>
            <a:r>
              <a:rPr lang="en-GB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fold 3</a:t>
            </a: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14A7D952-0782-7271-7F2A-BC6BC775B542}"/>
              </a:ext>
            </a:extLst>
          </p:cNvPr>
          <p:cNvSpPr/>
          <p:nvPr/>
        </p:nvSpPr>
        <p:spPr>
          <a:xfrm>
            <a:off x="148357" y="3173092"/>
            <a:ext cx="497974" cy="18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Split 1</a:t>
            </a: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06432789-ABB4-135D-C8F1-01F8D760F247}"/>
              </a:ext>
            </a:extLst>
          </p:cNvPr>
          <p:cNvSpPr/>
          <p:nvPr/>
        </p:nvSpPr>
        <p:spPr>
          <a:xfrm>
            <a:off x="148357" y="3386452"/>
            <a:ext cx="497974" cy="18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Split 2</a:t>
            </a: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C5603496-23AC-2551-E5E0-BDF8C60E9816}"/>
              </a:ext>
            </a:extLst>
          </p:cNvPr>
          <p:cNvSpPr/>
          <p:nvPr/>
        </p:nvSpPr>
        <p:spPr>
          <a:xfrm>
            <a:off x="148357" y="3585841"/>
            <a:ext cx="497974" cy="18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Split 3</a:t>
            </a: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BD4FCEEF-D9EE-3F9D-274E-A275AE7207AC}"/>
              </a:ext>
            </a:extLst>
          </p:cNvPr>
          <p:cNvSpPr/>
          <p:nvPr/>
        </p:nvSpPr>
        <p:spPr>
          <a:xfrm>
            <a:off x="116312" y="2647250"/>
            <a:ext cx="3120529" cy="188851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chemeClr val="accent2">
                  <a:lumMod val="7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425" name="Straight Arrow Connector 424">
            <a:extLst>
              <a:ext uri="{FF2B5EF4-FFF2-40B4-BE49-F238E27FC236}">
                <a16:creationId xmlns:a16="http://schemas.microsoft.com/office/drawing/2014/main" id="{C7C3581F-BB46-6BFD-88EC-1685548CDC83}"/>
              </a:ext>
            </a:extLst>
          </p:cNvPr>
          <p:cNvCxnSpPr>
            <a:cxnSpLocks/>
          </p:cNvCxnSpPr>
          <p:nvPr/>
        </p:nvCxnSpPr>
        <p:spPr>
          <a:xfrm>
            <a:off x="1836420" y="4165125"/>
            <a:ext cx="0" cy="90000"/>
          </a:xfrm>
          <a:prstGeom prst="straightConnector1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6" name="Rectangle 425">
            <a:extLst>
              <a:ext uri="{FF2B5EF4-FFF2-40B4-BE49-F238E27FC236}">
                <a16:creationId xmlns:a16="http://schemas.microsoft.com/office/drawing/2014/main" id="{54B4C05C-53AB-88AD-E871-B8862B4F61D3}"/>
              </a:ext>
            </a:extLst>
          </p:cNvPr>
          <p:cNvSpPr/>
          <p:nvPr/>
        </p:nvSpPr>
        <p:spPr>
          <a:xfrm>
            <a:off x="101734" y="4231866"/>
            <a:ext cx="3135106" cy="2922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Optuna ranks the n_trials scores to provide the </a:t>
            </a:r>
            <a:r>
              <a:rPr lang="en-GB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best-performing hyperparameter set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6EE46427-6BDE-882E-3A72-3DF2ED872F0A}"/>
              </a:ext>
            </a:extLst>
          </p:cNvPr>
          <p:cNvSpPr/>
          <p:nvPr/>
        </p:nvSpPr>
        <p:spPr>
          <a:xfrm>
            <a:off x="574923" y="2806513"/>
            <a:ext cx="2599034" cy="178250"/>
          </a:xfrm>
          <a:prstGeom prst="rect">
            <a:avLst/>
          </a:prstGeom>
          <a:gradFill flip="none" rotWithShape="1">
            <a:gsLst>
              <a:gs pos="66000">
                <a:srgbClr val="FF0066"/>
              </a:gs>
              <a:gs pos="100000">
                <a:srgbClr val="E98A15"/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Outer Training</a:t>
            </a:r>
          </a:p>
        </p:txBody>
      </p:sp>
      <p:sp>
        <p:nvSpPr>
          <p:cNvPr id="428" name="TextBox 427">
            <a:extLst>
              <a:ext uri="{FF2B5EF4-FFF2-40B4-BE49-F238E27FC236}">
                <a16:creationId xmlns:a16="http://schemas.microsoft.com/office/drawing/2014/main" id="{0BBE180E-9D2D-A30D-B94E-AB6240A4F89E}"/>
              </a:ext>
            </a:extLst>
          </p:cNvPr>
          <p:cNvSpPr txBox="1"/>
          <p:nvPr/>
        </p:nvSpPr>
        <p:spPr>
          <a:xfrm>
            <a:off x="601008" y="2639682"/>
            <a:ext cx="2592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FF006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80 %</a:t>
            </a:r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27B7D5CF-81CA-4EAF-61FB-FBDB71CAE40F}"/>
              </a:ext>
            </a:extLst>
          </p:cNvPr>
          <p:cNvSpPr/>
          <p:nvPr/>
        </p:nvSpPr>
        <p:spPr>
          <a:xfrm>
            <a:off x="499203" y="5881446"/>
            <a:ext cx="3159900" cy="282573"/>
          </a:xfrm>
          <a:prstGeom prst="rect">
            <a:avLst/>
          </a:prstGeom>
          <a:solidFill>
            <a:srgbClr val="00B0F0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u="sn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Imbalanced</a:t>
            </a:r>
            <a:r>
              <a:rPr lang="en-GB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verification dataset (from 2021 to 2024)</a:t>
            </a:r>
          </a:p>
          <a:p>
            <a:pPr algn="ctr"/>
            <a:r>
              <a:rPr lang="en-GB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 = 4.36M gridded data-points, of which 10742 (0.25%) are yes-events</a:t>
            </a:r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78B6A93C-975D-F2FB-2429-F211CE81F035}"/>
              </a:ext>
            </a:extLst>
          </p:cNvPr>
          <p:cNvSpPr/>
          <p:nvPr/>
        </p:nvSpPr>
        <p:spPr>
          <a:xfrm>
            <a:off x="9053" y="6162783"/>
            <a:ext cx="4102002" cy="32205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rgbClr val="0099CC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Test predictions using the </a:t>
            </a:r>
            <a:r>
              <a:rPr lang="en-GB" sz="800" b="1" dirty="0">
                <a:solidFill>
                  <a:srgbClr val="0099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Precision-Recall curve </a:t>
            </a:r>
            <a:r>
              <a:rPr lang="en-GB" sz="800" dirty="0">
                <a:solidFill>
                  <a:srgbClr val="0099CC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and </a:t>
            </a:r>
            <a:r>
              <a:rPr lang="en-GB" sz="800" b="1" dirty="0">
                <a:solidFill>
                  <a:srgbClr val="0099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AUC-PR</a:t>
            </a:r>
            <a:r>
              <a:rPr lang="en-GB" sz="800" dirty="0">
                <a:solidFill>
                  <a:srgbClr val="0099CC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 the </a:t>
            </a:r>
            <a:r>
              <a:rPr lang="en-GB" sz="800" b="1" dirty="0">
                <a:solidFill>
                  <a:srgbClr val="0099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ROC curve </a:t>
            </a:r>
            <a:r>
              <a:rPr lang="en-GB" sz="800" dirty="0">
                <a:solidFill>
                  <a:srgbClr val="0099CC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and </a:t>
            </a:r>
            <a:r>
              <a:rPr lang="en-GB" sz="800" b="1" dirty="0">
                <a:solidFill>
                  <a:srgbClr val="0099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AUC-ROC</a:t>
            </a:r>
            <a:r>
              <a:rPr lang="en-GB" sz="800" dirty="0">
                <a:solidFill>
                  <a:srgbClr val="0099CC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the </a:t>
            </a:r>
            <a:r>
              <a:rPr lang="en-GB" sz="800" b="1" dirty="0">
                <a:solidFill>
                  <a:srgbClr val="0099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reliability diagram </a:t>
            </a:r>
            <a:r>
              <a:rPr lang="en-GB" sz="800" dirty="0">
                <a:solidFill>
                  <a:srgbClr val="0099CC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and the </a:t>
            </a:r>
            <a:r>
              <a:rPr lang="en-GB" sz="800" b="1" dirty="0">
                <a:solidFill>
                  <a:srgbClr val="0099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frequency bias</a:t>
            </a:r>
            <a:r>
              <a:rPr lang="en-GB" sz="800" dirty="0">
                <a:solidFill>
                  <a:srgbClr val="0099CC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  <p:pic>
        <p:nvPicPr>
          <p:cNvPr id="431" name="Graphic 430" descr="Refresh with solid fill">
            <a:extLst>
              <a:ext uri="{FF2B5EF4-FFF2-40B4-BE49-F238E27FC236}">
                <a16:creationId xmlns:a16="http://schemas.microsoft.com/office/drawing/2014/main" id="{4943A585-56F4-BE8B-C666-8836FD94B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0027" y="2546882"/>
            <a:ext cx="72000" cy="72000"/>
          </a:xfrm>
          <a:prstGeom prst="rect">
            <a:avLst/>
          </a:prstGeom>
        </p:spPr>
      </p:pic>
      <p:sp>
        <p:nvSpPr>
          <p:cNvPr id="432" name="Rectangle 431">
            <a:extLst>
              <a:ext uri="{FF2B5EF4-FFF2-40B4-BE49-F238E27FC236}">
                <a16:creationId xmlns:a16="http://schemas.microsoft.com/office/drawing/2014/main" id="{A6BD9B84-7D11-E6C4-714D-168348DA6A59}"/>
              </a:ext>
            </a:extLst>
          </p:cNvPr>
          <p:cNvSpPr/>
          <p:nvPr/>
        </p:nvSpPr>
        <p:spPr>
          <a:xfrm>
            <a:off x="795766" y="4637809"/>
            <a:ext cx="1761620" cy="39358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Train the model using the best-performing hyperparameter set over the entire outer training dataset</a:t>
            </a:r>
          </a:p>
        </p:txBody>
      </p:sp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346B4E64-3EEF-D973-3957-F55293E7F745}"/>
              </a:ext>
            </a:extLst>
          </p:cNvPr>
          <p:cNvCxnSpPr>
            <a:cxnSpLocks/>
          </p:cNvCxnSpPr>
          <p:nvPr/>
        </p:nvCxnSpPr>
        <p:spPr>
          <a:xfrm>
            <a:off x="2471596" y="4837225"/>
            <a:ext cx="721411" cy="0"/>
          </a:xfrm>
          <a:prstGeom prst="straightConnector1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Straight Connector 433">
            <a:extLst>
              <a:ext uri="{FF2B5EF4-FFF2-40B4-BE49-F238E27FC236}">
                <a16:creationId xmlns:a16="http://schemas.microsoft.com/office/drawing/2014/main" id="{F820DBFC-D482-D362-AD9A-EB720E92CEF4}"/>
              </a:ext>
            </a:extLst>
          </p:cNvPr>
          <p:cNvCxnSpPr>
            <a:cxnSpLocks/>
          </p:cNvCxnSpPr>
          <p:nvPr/>
        </p:nvCxnSpPr>
        <p:spPr>
          <a:xfrm>
            <a:off x="18337" y="5191213"/>
            <a:ext cx="4098244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Connector 434">
            <a:extLst>
              <a:ext uri="{FF2B5EF4-FFF2-40B4-BE49-F238E27FC236}">
                <a16:creationId xmlns:a16="http://schemas.microsoft.com/office/drawing/2014/main" id="{8DF50D70-4022-681C-3D6E-62589944E0DE}"/>
              </a:ext>
            </a:extLst>
          </p:cNvPr>
          <p:cNvCxnSpPr>
            <a:cxnSpLocks/>
          </p:cNvCxnSpPr>
          <p:nvPr/>
        </p:nvCxnSpPr>
        <p:spPr>
          <a:xfrm rot="5400000">
            <a:off x="3202002" y="4291213"/>
            <a:ext cx="1800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Straight Connector 435">
            <a:extLst>
              <a:ext uri="{FF2B5EF4-FFF2-40B4-BE49-F238E27FC236}">
                <a16:creationId xmlns:a16="http://schemas.microsoft.com/office/drawing/2014/main" id="{1838FD34-08CA-AAAA-623C-682B4FB2B83D}"/>
              </a:ext>
            </a:extLst>
          </p:cNvPr>
          <p:cNvCxnSpPr>
            <a:cxnSpLocks/>
          </p:cNvCxnSpPr>
          <p:nvPr/>
        </p:nvCxnSpPr>
        <p:spPr>
          <a:xfrm rot="5400000">
            <a:off x="-881663" y="4291213"/>
            <a:ext cx="1800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16B06205-7085-528A-105F-F605E5D44E11}"/>
              </a:ext>
            </a:extLst>
          </p:cNvPr>
          <p:cNvCxnSpPr>
            <a:cxnSpLocks/>
          </p:cNvCxnSpPr>
          <p:nvPr/>
        </p:nvCxnSpPr>
        <p:spPr>
          <a:xfrm>
            <a:off x="2071201" y="5771690"/>
            <a:ext cx="0" cy="90000"/>
          </a:xfrm>
          <a:prstGeom prst="straightConnector1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Rectangle 437">
            <a:extLst>
              <a:ext uri="{FF2B5EF4-FFF2-40B4-BE49-F238E27FC236}">
                <a16:creationId xmlns:a16="http://schemas.microsoft.com/office/drawing/2014/main" id="{28AEAA1C-A4B2-C456-3DF2-85203C0EBF3D}"/>
              </a:ext>
            </a:extLst>
          </p:cNvPr>
          <p:cNvSpPr/>
          <p:nvPr/>
        </p:nvSpPr>
        <p:spPr>
          <a:xfrm>
            <a:off x="1490225" y="2496860"/>
            <a:ext cx="761396" cy="15243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n_trials </a:t>
            </a:r>
            <a:r>
              <a:rPr lang="en-GB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= 20 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39" name="Picture 438">
            <a:extLst>
              <a:ext uri="{FF2B5EF4-FFF2-40B4-BE49-F238E27FC236}">
                <a16:creationId xmlns:a16="http://schemas.microsoft.com/office/drawing/2014/main" id="{5478F336-4A82-C851-031E-7B68A3B8EB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159" y="753245"/>
            <a:ext cx="4140200" cy="187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713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5C5ACA8D-4927-11CF-B54D-5C46952E06E3}"/>
              </a:ext>
            </a:extLst>
          </p:cNvPr>
          <p:cNvSpPr/>
          <p:nvPr/>
        </p:nvSpPr>
        <p:spPr>
          <a:xfrm>
            <a:off x="-1139092" y="1125717"/>
            <a:ext cx="5797569" cy="815363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59FB585-539C-6777-66FD-3AAED8FD3645}"/>
              </a:ext>
            </a:extLst>
          </p:cNvPr>
          <p:cNvSpPr/>
          <p:nvPr/>
        </p:nvSpPr>
        <p:spPr>
          <a:xfrm>
            <a:off x="-1270727" y="2004755"/>
            <a:ext cx="1738395" cy="815363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1013CC2-2CBD-C39B-16E9-48002B516D7A}"/>
              </a:ext>
            </a:extLst>
          </p:cNvPr>
          <p:cNvSpPr/>
          <p:nvPr/>
        </p:nvSpPr>
        <p:spPr>
          <a:xfrm>
            <a:off x="-317225" y="1673059"/>
            <a:ext cx="734593" cy="236965"/>
          </a:xfrm>
          <a:prstGeom prst="rect">
            <a:avLst/>
          </a:prstGeom>
          <a:gradFill>
            <a:gsLst>
              <a:gs pos="66000">
                <a:srgbClr val="FF006E"/>
              </a:gs>
              <a:gs pos="100000">
                <a:srgbClr val="E98A15"/>
              </a:gs>
            </a:gsLst>
            <a:lin ang="0" scaled="1"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A5ABFD78-8DD6-FD1D-7C23-DB4D0F1736DD}"/>
              </a:ext>
            </a:extLst>
          </p:cNvPr>
          <p:cNvSpPr/>
          <p:nvPr/>
        </p:nvSpPr>
        <p:spPr>
          <a:xfrm>
            <a:off x="-274068" y="2035545"/>
            <a:ext cx="227487" cy="236965"/>
          </a:xfrm>
          <a:prstGeom prst="rect">
            <a:avLst/>
          </a:prstGeom>
          <a:solidFill>
            <a:srgbClr val="E98A1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B32C1BFB-D5AD-3AB9-B29E-1146286EDE70}"/>
              </a:ext>
            </a:extLst>
          </p:cNvPr>
          <p:cNvSpPr/>
          <p:nvPr/>
        </p:nvSpPr>
        <p:spPr>
          <a:xfrm>
            <a:off x="-274068" y="2286117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03BF83E4-23A2-6F6B-F77B-4F4E210DDC19}"/>
              </a:ext>
            </a:extLst>
          </p:cNvPr>
          <p:cNvSpPr/>
          <p:nvPr/>
        </p:nvSpPr>
        <p:spPr>
          <a:xfrm>
            <a:off x="-274068" y="2548154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93CC8F30-4764-CC3C-ABBE-B779B4448D7C}"/>
              </a:ext>
            </a:extLst>
          </p:cNvPr>
          <p:cNvSpPr/>
          <p:nvPr/>
        </p:nvSpPr>
        <p:spPr>
          <a:xfrm>
            <a:off x="447247" y="1673059"/>
            <a:ext cx="189572" cy="236965"/>
          </a:xfrm>
          <a:prstGeom prst="rect">
            <a:avLst/>
          </a:prstGeom>
          <a:solidFill>
            <a:srgbClr val="2CA58D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089EF62A-C51C-AD49-DD60-83E9D73EAC6B}"/>
              </a:ext>
            </a:extLst>
          </p:cNvPr>
          <p:cNvSpPr/>
          <p:nvPr/>
        </p:nvSpPr>
        <p:spPr>
          <a:xfrm>
            <a:off x="-63672" y="2035545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6D85A790-A34B-14D6-CEF2-1115C6053268}"/>
              </a:ext>
            </a:extLst>
          </p:cNvPr>
          <p:cNvSpPr/>
          <p:nvPr/>
        </p:nvSpPr>
        <p:spPr>
          <a:xfrm>
            <a:off x="-63672" y="2286117"/>
            <a:ext cx="227487" cy="236965"/>
          </a:xfrm>
          <a:prstGeom prst="rect">
            <a:avLst/>
          </a:prstGeom>
          <a:solidFill>
            <a:srgbClr val="E98A1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311C2BDF-F677-848A-7B9B-13D488660F1E}"/>
              </a:ext>
            </a:extLst>
          </p:cNvPr>
          <p:cNvSpPr/>
          <p:nvPr/>
        </p:nvSpPr>
        <p:spPr>
          <a:xfrm>
            <a:off x="-63672" y="2548154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F878829-230D-C992-63D8-7FD18C8F739B}"/>
              </a:ext>
            </a:extLst>
          </p:cNvPr>
          <p:cNvSpPr/>
          <p:nvPr/>
        </p:nvSpPr>
        <p:spPr>
          <a:xfrm>
            <a:off x="189884" y="2035545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592435FA-0508-9D62-594C-A47523268557}"/>
              </a:ext>
            </a:extLst>
          </p:cNvPr>
          <p:cNvSpPr/>
          <p:nvPr/>
        </p:nvSpPr>
        <p:spPr>
          <a:xfrm>
            <a:off x="189884" y="2286117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180C6A98-8473-4376-FEF7-80A5030190F4}"/>
              </a:ext>
            </a:extLst>
          </p:cNvPr>
          <p:cNvSpPr/>
          <p:nvPr/>
        </p:nvSpPr>
        <p:spPr>
          <a:xfrm>
            <a:off x="189884" y="2548154"/>
            <a:ext cx="227487" cy="236965"/>
          </a:xfrm>
          <a:prstGeom prst="rect">
            <a:avLst/>
          </a:prstGeom>
          <a:solidFill>
            <a:srgbClr val="E98A1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7C7D3C35-5EFB-3A13-6947-6762E19973F1}"/>
              </a:ext>
            </a:extLst>
          </p:cNvPr>
          <p:cNvSpPr/>
          <p:nvPr/>
        </p:nvSpPr>
        <p:spPr>
          <a:xfrm>
            <a:off x="-311043" y="1339744"/>
            <a:ext cx="947861" cy="23696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22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OUTER</a:t>
            </a:r>
            <a:r>
              <a:rPr lang="en-GB" sz="922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fold 1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A282F67-8084-9E56-B834-4484CCDC84E3}"/>
              </a:ext>
            </a:extLst>
          </p:cNvPr>
          <p:cNvSpPr/>
          <p:nvPr/>
        </p:nvSpPr>
        <p:spPr>
          <a:xfrm>
            <a:off x="707332" y="2035545"/>
            <a:ext cx="227487" cy="236965"/>
          </a:xfrm>
          <a:prstGeom prst="rect">
            <a:avLst/>
          </a:prstGeom>
          <a:solidFill>
            <a:srgbClr val="E98A1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C81D98BC-2D2D-79A0-E985-C2CF33E2CF29}"/>
              </a:ext>
            </a:extLst>
          </p:cNvPr>
          <p:cNvSpPr/>
          <p:nvPr/>
        </p:nvSpPr>
        <p:spPr>
          <a:xfrm>
            <a:off x="707332" y="2286117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FDC28721-23B8-EBB7-71A2-B83556298249}"/>
              </a:ext>
            </a:extLst>
          </p:cNvPr>
          <p:cNvSpPr/>
          <p:nvPr/>
        </p:nvSpPr>
        <p:spPr>
          <a:xfrm>
            <a:off x="707332" y="2548154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D1F9E4C-3B78-CEA9-7FCE-A5170203DA35}"/>
              </a:ext>
            </a:extLst>
          </p:cNvPr>
          <p:cNvSpPr/>
          <p:nvPr/>
        </p:nvSpPr>
        <p:spPr>
          <a:xfrm>
            <a:off x="1471799" y="1673059"/>
            <a:ext cx="189572" cy="236965"/>
          </a:xfrm>
          <a:prstGeom prst="rect">
            <a:avLst/>
          </a:prstGeom>
          <a:solidFill>
            <a:srgbClr val="2CA58D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6622E0D0-E807-65A1-4F7D-5AC133873464}"/>
              </a:ext>
            </a:extLst>
          </p:cNvPr>
          <p:cNvSpPr/>
          <p:nvPr/>
        </p:nvSpPr>
        <p:spPr>
          <a:xfrm>
            <a:off x="960884" y="2035545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462A943-9388-0455-3059-F928B8276707}"/>
              </a:ext>
            </a:extLst>
          </p:cNvPr>
          <p:cNvSpPr/>
          <p:nvPr/>
        </p:nvSpPr>
        <p:spPr>
          <a:xfrm>
            <a:off x="960884" y="2286117"/>
            <a:ext cx="227487" cy="236965"/>
          </a:xfrm>
          <a:prstGeom prst="rect">
            <a:avLst/>
          </a:prstGeom>
          <a:solidFill>
            <a:srgbClr val="E98A1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4A184943-2199-9A52-0167-939C15F9A318}"/>
              </a:ext>
            </a:extLst>
          </p:cNvPr>
          <p:cNvSpPr/>
          <p:nvPr/>
        </p:nvSpPr>
        <p:spPr>
          <a:xfrm>
            <a:off x="960884" y="2548154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957C8477-35FC-0350-230A-D674CF5EF8C7}"/>
              </a:ext>
            </a:extLst>
          </p:cNvPr>
          <p:cNvSpPr/>
          <p:nvPr/>
        </p:nvSpPr>
        <p:spPr>
          <a:xfrm>
            <a:off x="1214437" y="2035545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8B83974-1713-8978-DABF-B66B3B534F5C}"/>
              </a:ext>
            </a:extLst>
          </p:cNvPr>
          <p:cNvSpPr/>
          <p:nvPr/>
        </p:nvSpPr>
        <p:spPr>
          <a:xfrm>
            <a:off x="1214437" y="2286117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1E0300A3-F516-67F5-529B-5235613B6340}"/>
              </a:ext>
            </a:extLst>
          </p:cNvPr>
          <p:cNvSpPr/>
          <p:nvPr/>
        </p:nvSpPr>
        <p:spPr>
          <a:xfrm>
            <a:off x="1214437" y="2548154"/>
            <a:ext cx="227487" cy="236965"/>
          </a:xfrm>
          <a:prstGeom prst="rect">
            <a:avLst/>
          </a:prstGeom>
          <a:solidFill>
            <a:srgbClr val="E98A1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280B9147-4787-B602-2AE9-E85DF03A2F3F}"/>
              </a:ext>
            </a:extLst>
          </p:cNvPr>
          <p:cNvSpPr/>
          <p:nvPr/>
        </p:nvSpPr>
        <p:spPr>
          <a:xfrm>
            <a:off x="713509" y="1339744"/>
            <a:ext cx="947861" cy="23696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22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OUTER</a:t>
            </a:r>
            <a:r>
              <a:rPr lang="en-GB" sz="922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fold 1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7ECA3901-3DB1-6E1D-5036-0DB5DF0C7576}"/>
              </a:ext>
            </a:extLst>
          </p:cNvPr>
          <p:cNvSpPr/>
          <p:nvPr/>
        </p:nvSpPr>
        <p:spPr>
          <a:xfrm>
            <a:off x="1689026" y="2035545"/>
            <a:ext cx="227487" cy="236965"/>
          </a:xfrm>
          <a:prstGeom prst="rect">
            <a:avLst/>
          </a:prstGeom>
          <a:solidFill>
            <a:srgbClr val="E98A1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C5304D2E-D381-327C-5C60-6C5D381B7125}"/>
              </a:ext>
            </a:extLst>
          </p:cNvPr>
          <p:cNvSpPr/>
          <p:nvPr/>
        </p:nvSpPr>
        <p:spPr>
          <a:xfrm>
            <a:off x="1689026" y="2286117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E83E585C-BCE1-515E-96B8-4B69D9B9C91E}"/>
              </a:ext>
            </a:extLst>
          </p:cNvPr>
          <p:cNvSpPr/>
          <p:nvPr/>
        </p:nvSpPr>
        <p:spPr>
          <a:xfrm>
            <a:off x="1689026" y="2548154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C426AD2C-DF9C-29A2-8170-D8D303C2DA73}"/>
              </a:ext>
            </a:extLst>
          </p:cNvPr>
          <p:cNvSpPr/>
          <p:nvPr/>
        </p:nvSpPr>
        <p:spPr>
          <a:xfrm>
            <a:off x="2453495" y="1673059"/>
            <a:ext cx="189572" cy="236965"/>
          </a:xfrm>
          <a:prstGeom prst="rect">
            <a:avLst/>
          </a:prstGeom>
          <a:solidFill>
            <a:srgbClr val="2CA58D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F351FBF1-1DB8-EFE9-BD08-17451B714551}"/>
              </a:ext>
            </a:extLst>
          </p:cNvPr>
          <p:cNvSpPr/>
          <p:nvPr/>
        </p:nvSpPr>
        <p:spPr>
          <a:xfrm>
            <a:off x="1942580" y="2035545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B95412B-D806-143C-3830-9B8801E66792}"/>
              </a:ext>
            </a:extLst>
          </p:cNvPr>
          <p:cNvSpPr/>
          <p:nvPr/>
        </p:nvSpPr>
        <p:spPr>
          <a:xfrm>
            <a:off x="1942580" y="2286117"/>
            <a:ext cx="227487" cy="236965"/>
          </a:xfrm>
          <a:prstGeom prst="rect">
            <a:avLst/>
          </a:prstGeom>
          <a:solidFill>
            <a:srgbClr val="E98A1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562B4D07-D19B-D168-2215-C3CD4342B333}"/>
              </a:ext>
            </a:extLst>
          </p:cNvPr>
          <p:cNvSpPr/>
          <p:nvPr/>
        </p:nvSpPr>
        <p:spPr>
          <a:xfrm>
            <a:off x="1942580" y="2548154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BBE9715F-452C-C7FC-052C-1718B74FFCCB}"/>
              </a:ext>
            </a:extLst>
          </p:cNvPr>
          <p:cNvSpPr/>
          <p:nvPr/>
        </p:nvSpPr>
        <p:spPr>
          <a:xfrm>
            <a:off x="2196133" y="2035545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7B3C287B-1DA5-EC40-9A72-DFDE07DD4917}"/>
              </a:ext>
            </a:extLst>
          </p:cNvPr>
          <p:cNvSpPr/>
          <p:nvPr/>
        </p:nvSpPr>
        <p:spPr>
          <a:xfrm>
            <a:off x="2196133" y="2286117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E1D2FDBD-5990-AA59-D135-738D5B5BB537}"/>
              </a:ext>
            </a:extLst>
          </p:cNvPr>
          <p:cNvSpPr/>
          <p:nvPr/>
        </p:nvSpPr>
        <p:spPr>
          <a:xfrm>
            <a:off x="2196133" y="2548154"/>
            <a:ext cx="227487" cy="236965"/>
          </a:xfrm>
          <a:prstGeom prst="rect">
            <a:avLst/>
          </a:prstGeom>
          <a:solidFill>
            <a:srgbClr val="E98A1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FFEAB08-8128-36EC-585B-946DE19FF360}"/>
              </a:ext>
            </a:extLst>
          </p:cNvPr>
          <p:cNvSpPr/>
          <p:nvPr/>
        </p:nvSpPr>
        <p:spPr>
          <a:xfrm>
            <a:off x="1695205" y="1339744"/>
            <a:ext cx="947861" cy="23696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22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OUTER</a:t>
            </a:r>
            <a:r>
              <a:rPr lang="en-GB" sz="922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fold 1</a:t>
            </a: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77D3E3A7-04A2-EE4E-4C7D-9B7B76DD8FF4}"/>
              </a:ext>
            </a:extLst>
          </p:cNvPr>
          <p:cNvSpPr/>
          <p:nvPr/>
        </p:nvSpPr>
        <p:spPr>
          <a:xfrm>
            <a:off x="2663281" y="2035545"/>
            <a:ext cx="227487" cy="236965"/>
          </a:xfrm>
          <a:prstGeom prst="rect">
            <a:avLst/>
          </a:prstGeom>
          <a:solidFill>
            <a:srgbClr val="E98A1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3B74AE2E-7C33-ED9E-28B7-650B9766EF62}"/>
              </a:ext>
            </a:extLst>
          </p:cNvPr>
          <p:cNvSpPr/>
          <p:nvPr/>
        </p:nvSpPr>
        <p:spPr>
          <a:xfrm>
            <a:off x="2663281" y="2286117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A4700F22-87FF-E3F3-0AB5-FE64CC71C970}"/>
              </a:ext>
            </a:extLst>
          </p:cNvPr>
          <p:cNvSpPr/>
          <p:nvPr/>
        </p:nvSpPr>
        <p:spPr>
          <a:xfrm>
            <a:off x="2663281" y="2548154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684D11EF-8EE3-3095-57C1-ECA5759EA1A5}"/>
              </a:ext>
            </a:extLst>
          </p:cNvPr>
          <p:cNvSpPr/>
          <p:nvPr/>
        </p:nvSpPr>
        <p:spPr>
          <a:xfrm>
            <a:off x="3427748" y="1673059"/>
            <a:ext cx="189572" cy="236965"/>
          </a:xfrm>
          <a:prstGeom prst="rect">
            <a:avLst/>
          </a:prstGeom>
          <a:solidFill>
            <a:srgbClr val="2CA58D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49AF96A6-4EC9-00A3-8497-B65D39AA3C75}"/>
              </a:ext>
            </a:extLst>
          </p:cNvPr>
          <p:cNvSpPr/>
          <p:nvPr/>
        </p:nvSpPr>
        <p:spPr>
          <a:xfrm>
            <a:off x="2916833" y="2035545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F05681B-B742-6F1B-25A4-63EBEFDF3B7F}"/>
              </a:ext>
            </a:extLst>
          </p:cNvPr>
          <p:cNvSpPr/>
          <p:nvPr/>
        </p:nvSpPr>
        <p:spPr>
          <a:xfrm>
            <a:off x="2916833" y="2286117"/>
            <a:ext cx="227487" cy="236965"/>
          </a:xfrm>
          <a:prstGeom prst="rect">
            <a:avLst/>
          </a:prstGeom>
          <a:solidFill>
            <a:srgbClr val="E98A1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3476CD23-92F5-79F6-02B2-30620036B905}"/>
              </a:ext>
            </a:extLst>
          </p:cNvPr>
          <p:cNvSpPr/>
          <p:nvPr/>
        </p:nvSpPr>
        <p:spPr>
          <a:xfrm>
            <a:off x="2916833" y="2548154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B25532B5-CE42-9DD2-9150-B63484A87891}"/>
              </a:ext>
            </a:extLst>
          </p:cNvPr>
          <p:cNvSpPr/>
          <p:nvPr/>
        </p:nvSpPr>
        <p:spPr>
          <a:xfrm>
            <a:off x="3170386" y="2035545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C3BFD9C3-2B9C-3D8D-6F09-EB5695DC0615}"/>
              </a:ext>
            </a:extLst>
          </p:cNvPr>
          <p:cNvSpPr/>
          <p:nvPr/>
        </p:nvSpPr>
        <p:spPr>
          <a:xfrm>
            <a:off x="3170386" y="2286117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311EE729-5BDB-1DED-5042-10C2639D12C2}"/>
              </a:ext>
            </a:extLst>
          </p:cNvPr>
          <p:cNvSpPr/>
          <p:nvPr/>
        </p:nvSpPr>
        <p:spPr>
          <a:xfrm>
            <a:off x="3170386" y="2548154"/>
            <a:ext cx="227487" cy="236965"/>
          </a:xfrm>
          <a:prstGeom prst="rect">
            <a:avLst/>
          </a:prstGeom>
          <a:solidFill>
            <a:srgbClr val="E98A1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320718EB-EA18-F146-1688-68C7FF7410B4}"/>
              </a:ext>
            </a:extLst>
          </p:cNvPr>
          <p:cNvSpPr/>
          <p:nvPr/>
        </p:nvSpPr>
        <p:spPr>
          <a:xfrm>
            <a:off x="2669459" y="1339744"/>
            <a:ext cx="947861" cy="23696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22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OUTER</a:t>
            </a:r>
            <a:r>
              <a:rPr lang="en-GB" sz="922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fold 1</a:t>
            </a: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F5E83FE7-E223-A34B-1AA5-63C6D4927847}"/>
              </a:ext>
            </a:extLst>
          </p:cNvPr>
          <p:cNvSpPr/>
          <p:nvPr/>
        </p:nvSpPr>
        <p:spPr>
          <a:xfrm>
            <a:off x="3644976" y="2035545"/>
            <a:ext cx="227487" cy="236965"/>
          </a:xfrm>
          <a:prstGeom prst="rect">
            <a:avLst/>
          </a:prstGeom>
          <a:solidFill>
            <a:srgbClr val="E98A1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4F278CC-89FC-102D-C64D-9E0D80ECDA19}"/>
              </a:ext>
            </a:extLst>
          </p:cNvPr>
          <p:cNvSpPr/>
          <p:nvPr/>
        </p:nvSpPr>
        <p:spPr>
          <a:xfrm>
            <a:off x="3644976" y="2286117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EC627BA5-8EA7-715D-A0C8-BC6B2265871D}"/>
              </a:ext>
            </a:extLst>
          </p:cNvPr>
          <p:cNvSpPr/>
          <p:nvPr/>
        </p:nvSpPr>
        <p:spPr>
          <a:xfrm>
            <a:off x="3644976" y="2548154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2932F01D-ACD4-977D-6F37-910556CF8A45}"/>
              </a:ext>
            </a:extLst>
          </p:cNvPr>
          <p:cNvSpPr/>
          <p:nvPr/>
        </p:nvSpPr>
        <p:spPr>
          <a:xfrm>
            <a:off x="4366286" y="1673059"/>
            <a:ext cx="189572" cy="236965"/>
          </a:xfrm>
          <a:prstGeom prst="rect">
            <a:avLst/>
          </a:prstGeom>
          <a:solidFill>
            <a:srgbClr val="2CA58D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E3EE0089-BDFC-C426-5F18-3B0748B58620}"/>
              </a:ext>
            </a:extLst>
          </p:cNvPr>
          <p:cNvSpPr/>
          <p:nvPr/>
        </p:nvSpPr>
        <p:spPr>
          <a:xfrm>
            <a:off x="3898529" y="2035545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0C53BAB0-D220-AF31-1AD4-EE2CD308359D}"/>
              </a:ext>
            </a:extLst>
          </p:cNvPr>
          <p:cNvSpPr/>
          <p:nvPr/>
        </p:nvSpPr>
        <p:spPr>
          <a:xfrm>
            <a:off x="3898529" y="2286117"/>
            <a:ext cx="227487" cy="236965"/>
          </a:xfrm>
          <a:prstGeom prst="rect">
            <a:avLst/>
          </a:prstGeom>
          <a:solidFill>
            <a:srgbClr val="E98A1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72C9621B-4A51-E446-0DFE-5B56299EE705}"/>
              </a:ext>
            </a:extLst>
          </p:cNvPr>
          <p:cNvSpPr/>
          <p:nvPr/>
        </p:nvSpPr>
        <p:spPr>
          <a:xfrm>
            <a:off x="3898529" y="2548154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195F49FD-B57E-86DF-8892-33895D300551}"/>
              </a:ext>
            </a:extLst>
          </p:cNvPr>
          <p:cNvSpPr/>
          <p:nvPr/>
        </p:nvSpPr>
        <p:spPr>
          <a:xfrm>
            <a:off x="4152081" y="2035545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15F2EBE1-F19B-E61F-FCA9-6B9ABF4E855C}"/>
              </a:ext>
            </a:extLst>
          </p:cNvPr>
          <p:cNvSpPr/>
          <p:nvPr/>
        </p:nvSpPr>
        <p:spPr>
          <a:xfrm>
            <a:off x="4152081" y="2286117"/>
            <a:ext cx="227487" cy="236965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08BD692E-B98C-93F4-B769-C2EA09747AE7}"/>
              </a:ext>
            </a:extLst>
          </p:cNvPr>
          <p:cNvSpPr/>
          <p:nvPr/>
        </p:nvSpPr>
        <p:spPr>
          <a:xfrm>
            <a:off x="4152081" y="2548154"/>
            <a:ext cx="227487" cy="236965"/>
          </a:xfrm>
          <a:prstGeom prst="rect">
            <a:avLst/>
          </a:prstGeom>
          <a:solidFill>
            <a:srgbClr val="E98A1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0D62A59A-16B8-50D6-6107-13060486C2B1}"/>
              </a:ext>
            </a:extLst>
          </p:cNvPr>
          <p:cNvSpPr/>
          <p:nvPr/>
        </p:nvSpPr>
        <p:spPr>
          <a:xfrm>
            <a:off x="3651155" y="1339744"/>
            <a:ext cx="947861" cy="23696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22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OUTER</a:t>
            </a:r>
            <a:r>
              <a:rPr lang="en-GB" sz="922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fold 1</a:t>
            </a:r>
          </a:p>
        </p:txBody>
      </p:sp>
      <p:pic>
        <p:nvPicPr>
          <p:cNvPr id="260" name="Graphic 259" descr="Refresh with solid fill">
            <a:extLst>
              <a:ext uri="{FF2B5EF4-FFF2-40B4-BE49-F238E27FC236}">
                <a16:creationId xmlns:a16="http://schemas.microsoft.com/office/drawing/2014/main" id="{188183AB-ECAE-1879-7A04-C407C9362A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74601" y="1415536"/>
            <a:ext cx="142180" cy="142180"/>
          </a:xfrm>
          <a:prstGeom prst="rect">
            <a:avLst/>
          </a:prstGeom>
        </p:spPr>
      </p:pic>
      <p:sp>
        <p:nvSpPr>
          <p:cNvPr id="261" name="Rectangle 260">
            <a:extLst>
              <a:ext uri="{FF2B5EF4-FFF2-40B4-BE49-F238E27FC236}">
                <a16:creationId xmlns:a16="http://schemas.microsoft.com/office/drawing/2014/main" id="{65A7B9AB-4F79-4820-C9E2-9696002C4485}"/>
              </a:ext>
            </a:extLst>
          </p:cNvPr>
          <p:cNvSpPr/>
          <p:nvPr/>
        </p:nvSpPr>
        <p:spPr>
          <a:xfrm>
            <a:off x="-1297916" y="1347841"/>
            <a:ext cx="1018951" cy="25665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922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k_outer </a:t>
            </a:r>
            <a:r>
              <a:rPr lang="en-GB" sz="922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= 5</a:t>
            </a: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AB01A647-00FD-E268-3A7E-95026504EE1D}"/>
              </a:ext>
            </a:extLst>
          </p:cNvPr>
          <p:cNvSpPr/>
          <p:nvPr/>
        </p:nvSpPr>
        <p:spPr>
          <a:xfrm>
            <a:off x="-1441446" y="2273189"/>
            <a:ext cx="1018951" cy="25665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922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k_inner </a:t>
            </a:r>
            <a:r>
              <a:rPr lang="en-GB" sz="922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= 3</a:t>
            </a:r>
          </a:p>
        </p:txBody>
      </p:sp>
      <p:sp>
        <p:nvSpPr>
          <p:cNvPr id="265" name="Left Brace 264">
            <a:extLst>
              <a:ext uri="{FF2B5EF4-FFF2-40B4-BE49-F238E27FC236}">
                <a16:creationId xmlns:a16="http://schemas.microsoft.com/office/drawing/2014/main" id="{83CFB0F6-64E8-F3BB-86CE-9ECD42E950E2}"/>
              </a:ext>
            </a:extLst>
          </p:cNvPr>
          <p:cNvSpPr/>
          <p:nvPr/>
        </p:nvSpPr>
        <p:spPr>
          <a:xfrm>
            <a:off x="-481628" y="2035544"/>
            <a:ext cx="175551" cy="724042"/>
          </a:xfrm>
          <a:prstGeom prst="leftBrace">
            <a:avLst>
              <a:gd name="adj1" fmla="val 52973"/>
              <a:gd name="adj2" fmla="val 50000"/>
            </a:avLst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922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66" name="Graphic 265" descr="Refresh with solid fill">
            <a:extLst>
              <a:ext uri="{FF2B5EF4-FFF2-40B4-BE49-F238E27FC236}">
                <a16:creationId xmlns:a16="http://schemas.microsoft.com/office/drawing/2014/main" id="{88C69EAF-A024-F33E-5F09-FB9179C3FB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20008" y="2341578"/>
            <a:ext cx="142180" cy="142180"/>
          </a:xfrm>
          <a:prstGeom prst="rect">
            <a:avLst/>
          </a:prstGeom>
        </p:spPr>
      </p:pic>
      <p:sp>
        <p:nvSpPr>
          <p:cNvPr id="274" name="TextBox 273">
            <a:extLst>
              <a:ext uri="{FF2B5EF4-FFF2-40B4-BE49-F238E27FC236}">
                <a16:creationId xmlns:a16="http://schemas.microsoft.com/office/drawing/2014/main" id="{67D32D45-2DC0-2072-3AB4-37C1E02B2376}"/>
              </a:ext>
            </a:extLst>
          </p:cNvPr>
          <p:cNvSpPr txBox="1"/>
          <p:nvPr/>
        </p:nvSpPr>
        <p:spPr>
          <a:xfrm>
            <a:off x="-310824" y="1124666"/>
            <a:ext cx="947641" cy="239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22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 / k_outer</a:t>
            </a: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7938D923-20CB-2406-E297-81877AE34A20}"/>
              </a:ext>
            </a:extLst>
          </p:cNvPr>
          <p:cNvSpPr/>
          <p:nvPr/>
        </p:nvSpPr>
        <p:spPr>
          <a:xfrm>
            <a:off x="713510" y="1673059"/>
            <a:ext cx="734593" cy="236965"/>
          </a:xfrm>
          <a:prstGeom prst="rect">
            <a:avLst/>
          </a:prstGeom>
          <a:gradFill>
            <a:gsLst>
              <a:gs pos="66000">
                <a:srgbClr val="FF006E"/>
              </a:gs>
              <a:gs pos="100000">
                <a:srgbClr val="E98A15"/>
              </a:gs>
            </a:gsLst>
            <a:lin ang="0" scaled="1"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441375F6-99C6-2084-D67D-86B3E4D001DE}"/>
              </a:ext>
            </a:extLst>
          </p:cNvPr>
          <p:cNvSpPr/>
          <p:nvPr/>
        </p:nvSpPr>
        <p:spPr>
          <a:xfrm>
            <a:off x="1695207" y="1673059"/>
            <a:ext cx="734593" cy="236965"/>
          </a:xfrm>
          <a:prstGeom prst="rect">
            <a:avLst/>
          </a:prstGeom>
          <a:gradFill>
            <a:gsLst>
              <a:gs pos="66000">
                <a:srgbClr val="FF006E"/>
              </a:gs>
              <a:gs pos="100000">
                <a:srgbClr val="E98A15"/>
              </a:gs>
            </a:gsLst>
            <a:lin ang="0" scaled="1"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9E8F7CF7-A90C-1AD2-08D2-9F2178169D22}"/>
              </a:ext>
            </a:extLst>
          </p:cNvPr>
          <p:cNvSpPr/>
          <p:nvPr/>
        </p:nvSpPr>
        <p:spPr>
          <a:xfrm>
            <a:off x="2669460" y="1673059"/>
            <a:ext cx="734593" cy="236965"/>
          </a:xfrm>
          <a:prstGeom prst="rect">
            <a:avLst/>
          </a:prstGeom>
          <a:gradFill>
            <a:gsLst>
              <a:gs pos="66000">
                <a:srgbClr val="FF006E"/>
              </a:gs>
              <a:gs pos="100000">
                <a:srgbClr val="E98A15"/>
              </a:gs>
            </a:gsLst>
            <a:lin ang="0" scaled="1"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4A1B64CC-958D-29C7-FB12-944551D1EC5E}"/>
              </a:ext>
            </a:extLst>
          </p:cNvPr>
          <p:cNvSpPr/>
          <p:nvPr/>
        </p:nvSpPr>
        <p:spPr>
          <a:xfrm>
            <a:off x="3651157" y="1673059"/>
            <a:ext cx="734593" cy="236965"/>
          </a:xfrm>
          <a:prstGeom prst="rect">
            <a:avLst/>
          </a:prstGeom>
          <a:gradFill>
            <a:gsLst>
              <a:gs pos="66000">
                <a:srgbClr val="FF006E"/>
              </a:gs>
              <a:gs pos="100000">
                <a:srgbClr val="E98A15"/>
              </a:gs>
            </a:gsLst>
            <a:lin ang="0" scaled="1"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22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9A749F05-307B-FA25-C140-2F3CDEE31F99}"/>
              </a:ext>
            </a:extLst>
          </p:cNvPr>
          <p:cNvSpPr txBox="1"/>
          <p:nvPr/>
        </p:nvSpPr>
        <p:spPr>
          <a:xfrm>
            <a:off x="717284" y="1124666"/>
            <a:ext cx="947641" cy="239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22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 / k_outer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DDB7608A-94FF-D7FA-DFC7-3043808ABA47}"/>
              </a:ext>
            </a:extLst>
          </p:cNvPr>
          <p:cNvSpPr txBox="1"/>
          <p:nvPr/>
        </p:nvSpPr>
        <p:spPr>
          <a:xfrm>
            <a:off x="1698578" y="1124666"/>
            <a:ext cx="947641" cy="239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22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 / k_outer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643743EA-89F9-46BE-7FAD-DBF45DA84B52}"/>
              </a:ext>
            </a:extLst>
          </p:cNvPr>
          <p:cNvSpPr txBox="1"/>
          <p:nvPr/>
        </p:nvSpPr>
        <p:spPr>
          <a:xfrm>
            <a:off x="2679870" y="1124666"/>
            <a:ext cx="947641" cy="239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22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 / k_outer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B01D0432-B4AC-D486-7531-B5BB267EDFF4}"/>
              </a:ext>
            </a:extLst>
          </p:cNvPr>
          <p:cNvSpPr txBox="1"/>
          <p:nvPr/>
        </p:nvSpPr>
        <p:spPr>
          <a:xfrm>
            <a:off x="3661160" y="1124666"/>
            <a:ext cx="947641" cy="239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22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 / k_outer</a:t>
            </a:r>
          </a:p>
        </p:txBody>
      </p:sp>
      <p:pic>
        <p:nvPicPr>
          <p:cNvPr id="284" name="Graphic 283" descr="Refresh with solid fill">
            <a:extLst>
              <a:ext uri="{FF2B5EF4-FFF2-40B4-BE49-F238E27FC236}">
                <a16:creationId xmlns:a16="http://schemas.microsoft.com/office/drawing/2014/main" id="{650301A6-4217-9358-B600-1054572DC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946" y="482028"/>
            <a:ext cx="135127" cy="142180"/>
          </a:xfrm>
          <a:prstGeom prst="rect">
            <a:avLst/>
          </a:prstGeom>
        </p:spPr>
      </p:pic>
      <p:sp>
        <p:nvSpPr>
          <p:cNvPr id="285" name="Rectangle 284">
            <a:extLst>
              <a:ext uri="{FF2B5EF4-FFF2-40B4-BE49-F238E27FC236}">
                <a16:creationId xmlns:a16="http://schemas.microsoft.com/office/drawing/2014/main" id="{DF256CA8-D670-521F-DABE-87891B706515}"/>
              </a:ext>
            </a:extLst>
          </p:cNvPr>
          <p:cNvSpPr/>
          <p:nvPr/>
        </p:nvSpPr>
        <p:spPr>
          <a:xfrm>
            <a:off x="262902" y="420975"/>
            <a:ext cx="2825663" cy="25665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19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n_repeats </a:t>
            </a:r>
            <a:r>
              <a:rPr lang="en-GB" sz="919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= 1 ( </a:t>
            </a:r>
            <a:r>
              <a:rPr lang="en-GB" sz="919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RepeatedStratifiedKfold            </a:t>
            </a:r>
            <a:r>
              <a:rPr lang="en-GB" sz="919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009A46-6D12-CD32-6226-3AE28828467D}"/>
              </a:ext>
            </a:extLst>
          </p:cNvPr>
          <p:cNvSpPr/>
          <p:nvPr/>
        </p:nvSpPr>
        <p:spPr>
          <a:xfrm>
            <a:off x="-1139092" y="906541"/>
            <a:ext cx="5797569" cy="25665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22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Outer Cross-Validation (Model generalisation)</a:t>
            </a:r>
            <a:endParaRPr lang="en-GB" sz="922" b="1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30AD3E-3C80-557C-5792-3994668D0538}"/>
              </a:ext>
            </a:extLst>
          </p:cNvPr>
          <p:cNvSpPr/>
          <p:nvPr/>
        </p:nvSpPr>
        <p:spPr>
          <a:xfrm>
            <a:off x="-1308998" y="2847634"/>
            <a:ext cx="1985033" cy="25665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22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Inner Cross-Validation</a:t>
            </a:r>
          </a:p>
          <a:p>
            <a:pPr algn="ctr"/>
            <a:r>
              <a:rPr lang="en-GB" sz="922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(Optuna hyperparameter tuning)</a:t>
            </a:r>
            <a:endParaRPr lang="en-GB" sz="922" b="1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9A9B4192-EF51-90EC-146D-0F70F0266B6F}"/>
              </a:ext>
            </a:extLst>
          </p:cNvPr>
          <p:cNvSpPr/>
          <p:nvPr/>
        </p:nvSpPr>
        <p:spPr>
          <a:xfrm rot="16200000">
            <a:off x="1505769" y="-2180489"/>
            <a:ext cx="277745" cy="6027680"/>
          </a:xfrm>
          <a:prstGeom prst="rightBrace">
            <a:avLst>
              <a:gd name="adj1" fmla="val 76542"/>
              <a:gd name="adj2" fmla="val 50602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837"/>
          </a:p>
        </p:txBody>
      </p:sp>
      <p:pic>
        <p:nvPicPr>
          <p:cNvPr id="6" name="Picture 2" descr="Integrate scikit-learn (sklearn) with ZenML - Modeling Integrations">
            <a:extLst>
              <a:ext uri="{FF2B5EF4-FFF2-40B4-BE49-F238E27FC236}">
                <a16:creationId xmlns:a16="http://schemas.microsoft.com/office/drawing/2014/main" id="{769FF019-D5FA-0862-6908-CADDF59368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9" t="22668" r="8002" b="22124"/>
          <a:stretch/>
        </p:blipFill>
        <p:spPr bwMode="auto">
          <a:xfrm>
            <a:off x="2481756" y="452511"/>
            <a:ext cx="268351" cy="17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7987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48BADB-BFB1-77B0-FC97-F728ECEE6E1F}"/>
              </a:ext>
            </a:extLst>
          </p:cNvPr>
          <p:cNvSpPr/>
          <p:nvPr/>
        </p:nvSpPr>
        <p:spPr>
          <a:xfrm>
            <a:off x="118993" y="3942443"/>
            <a:ext cx="1065053" cy="226607"/>
          </a:xfrm>
          <a:prstGeom prst="rect">
            <a:avLst/>
          </a:prstGeom>
          <a:solidFill>
            <a:srgbClr val="E98A1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8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Inner Validation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08E3B5-749A-B175-0604-D405E996C8FA}"/>
              </a:ext>
            </a:extLst>
          </p:cNvPr>
          <p:cNvSpPr/>
          <p:nvPr/>
        </p:nvSpPr>
        <p:spPr>
          <a:xfrm>
            <a:off x="1218038" y="3942443"/>
            <a:ext cx="1065053" cy="226607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8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Inner Training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651B1B-AEE0-2915-93F0-50F612FDA750}"/>
              </a:ext>
            </a:extLst>
          </p:cNvPr>
          <p:cNvSpPr/>
          <p:nvPr/>
        </p:nvSpPr>
        <p:spPr>
          <a:xfrm>
            <a:off x="2317084" y="3942443"/>
            <a:ext cx="1065053" cy="226607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8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Inner Training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3AEA5-06A8-ADF8-5F2C-FA3C43BDC622}"/>
              </a:ext>
            </a:extLst>
          </p:cNvPr>
          <p:cNvSpPr/>
          <p:nvPr/>
        </p:nvSpPr>
        <p:spPr>
          <a:xfrm>
            <a:off x="118993" y="4208412"/>
            <a:ext cx="1065053" cy="226607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8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Inner Training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CCE06E-87D6-56B4-F0AC-F0BF9AD922C1}"/>
              </a:ext>
            </a:extLst>
          </p:cNvPr>
          <p:cNvSpPr/>
          <p:nvPr/>
        </p:nvSpPr>
        <p:spPr>
          <a:xfrm>
            <a:off x="1218038" y="4208412"/>
            <a:ext cx="1065053" cy="226607"/>
          </a:xfrm>
          <a:prstGeom prst="rect">
            <a:avLst/>
          </a:prstGeom>
          <a:solidFill>
            <a:srgbClr val="E98A1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8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Inner Validation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0A49B-CE3F-10DD-3A5D-B2B7871392A7}"/>
              </a:ext>
            </a:extLst>
          </p:cNvPr>
          <p:cNvSpPr/>
          <p:nvPr/>
        </p:nvSpPr>
        <p:spPr>
          <a:xfrm>
            <a:off x="2317084" y="4208412"/>
            <a:ext cx="1065053" cy="226607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8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Inner Training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970899-29F7-66F2-91A2-55E47F926422}"/>
              </a:ext>
            </a:extLst>
          </p:cNvPr>
          <p:cNvSpPr/>
          <p:nvPr/>
        </p:nvSpPr>
        <p:spPr>
          <a:xfrm>
            <a:off x="118993" y="4464351"/>
            <a:ext cx="1065053" cy="226607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8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Inner Training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1031BF-61BA-6496-EC8A-AEA8555CC252}"/>
              </a:ext>
            </a:extLst>
          </p:cNvPr>
          <p:cNvSpPr/>
          <p:nvPr/>
        </p:nvSpPr>
        <p:spPr>
          <a:xfrm>
            <a:off x="1218038" y="4464351"/>
            <a:ext cx="1065053" cy="226607"/>
          </a:xfrm>
          <a:prstGeom prst="rect">
            <a:avLst/>
          </a:prstGeom>
          <a:solidFill>
            <a:srgbClr val="FF006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8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Inner Training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E7239C-E716-2DBD-54BD-D6BAC817FBA9}"/>
              </a:ext>
            </a:extLst>
          </p:cNvPr>
          <p:cNvSpPr/>
          <p:nvPr/>
        </p:nvSpPr>
        <p:spPr>
          <a:xfrm>
            <a:off x="2317084" y="4464351"/>
            <a:ext cx="1065053" cy="226607"/>
          </a:xfrm>
          <a:prstGeom prst="rect">
            <a:avLst/>
          </a:prstGeom>
          <a:solidFill>
            <a:srgbClr val="E98A1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8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Inner Validation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008CEF-BE0B-970A-0159-277597BF4F28}"/>
              </a:ext>
            </a:extLst>
          </p:cNvPr>
          <p:cNvSpPr/>
          <p:nvPr/>
        </p:nvSpPr>
        <p:spPr>
          <a:xfrm>
            <a:off x="-300790" y="4997479"/>
            <a:ext cx="3749686" cy="68757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8" dirty="0">
                <a:solidFill>
                  <a:srgbClr val="3A0CA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Single Optuna trial (candidate set of hyperparameters) =  </a:t>
            </a:r>
          </a:p>
          <a:p>
            <a:pPr algn="ctr"/>
            <a:r>
              <a:rPr lang="en-GB" sz="1008" dirty="0">
                <a:solidFill>
                  <a:srgbClr val="FF006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Train each candidate set of hyperparameters over (k_inner - 1) splits</a:t>
            </a:r>
            <a:r>
              <a:rPr lang="en-GB" sz="1008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lang="en-GB" sz="1008" dirty="0">
                <a:solidFill>
                  <a:srgbClr val="E98A1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validate the set over 1 split </a:t>
            </a:r>
          </a:p>
          <a:p>
            <a:pPr algn="ctr"/>
            <a:r>
              <a:rPr lang="en-GB" sz="1008" dirty="0">
                <a:solidFill>
                  <a:srgbClr val="3A0CA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Score for single trial = average of k_inner scores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40487E-DBF8-DDD3-2648-78C99087FA17}"/>
              </a:ext>
            </a:extLst>
          </p:cNvPr>
          <p:cNvCxnSpPr>
            <a:cxnSpLocks/>
          </p:cNvCxnSpPr>
          <p:nvPr/>
        </p:nvCxnSpPr>
        <p:spPr>
          <a:xfrm>
            <a:off x="1555869" y="4758493"/>
            <a:ext cx="0" cy="231258"/>
          </a:xfrm>
          <a:prstGeom prst="straightConnector1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FE541F49-EC80-050B-7F1F-7DD39E3A1667}"/>
              </a:ext>
            </a:extLst>
          </p:cNvPr>
          <p:cNvSpPr/>
          <p:nvPr/>
        </p:nvSpPr>
        <p:spPr>
          <a:xfrm>
            <a:off x="-300790" y="2889275"/>
            <a:ext cx="3740572" cy="399279"/>
          </a:xfrm>
          <a:prstGeom prst="rect">
            <a:avLst/>
          </a:prstGeom>
          <a:solidFill>
            <a:srgbClr val="3A0CA3"/>
          </a:solidFill>
          <a:ln w="19050">
            <a:solidFill>
              <a:srgbClr val="3A0C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8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Hyperparameter tuning with Optuna </a:t>
            </a:r>
          </a:p>
          <a:p>
            <a:pPr algn="ctr"/>
            <a:r>
              <a:rPr lang="en-GB" sz="1008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n_trials </a:t>
            </a:r>
            <a:r>
              <a:rPr lang="en-GB" sz="1008" b="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= 20</a:t>
            </a:r>
            <a:endParaRPr lang="en-GB" sz="1008" dirty="0">
              <a:solidFill>
                <a:schemeClr val="bg1">
                  <a:lumMod val="9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4B706A-200B-77F7-4DF9-310C93DBC9CC}"/>
              </a:ext>
            </a:extLst>
          </p:cNvPr>
          <p:cNvSpPr/>
          <p:nvPr/>
        </p:nvSpPr>
        <p:spPr>
          <a:xfrm>
            <a:off x="110139" y="3738596"/>
            <a:ext cx="1065053" cy="22660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81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INNER</a:t>
            </a:r>
            <a:r>
              <a:rPr lang="en-GB" sz="88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fold 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C0592D-CC6E-7AB5-28B2-67CDAD0B59A7}"/>
              </a:ext>
            </a:extLst>
          </p:cNvPr>
          <p:cNvSpPr/>
          <p:nvPr/>
        </p:nvSpPr>
        <p:spPr>
          <a:xfrm>
            <a:off x="1209183" y="3738596"/>
            <a:ext cx="1065053" cy="22660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81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INNER</a:t>
            </a:r>
            <a:r>
              <a:rPr lang="en-GB" sz="88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fold 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0865B1-92F4-ED07-CD62-F7E8BE53B042}"/>
              </a:ext>
            </a:extLst>
          </p:cNvPr>
          <p:cNvSpPr/>
          <p:nvPr/>
        </p:nvSpPr>
        <p:spPr>
          <a:xfrm>
            <a:off x="2308228" y="3738596"/>
            <a:ext cx="1065053" cy="22660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81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INNER</a:t>
            </a:r>
            <a:r>
              <a:rPr lang="en-GB" sz="88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fold 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AF3CC4-9DD4-1720-06A7-2128B810F965}"/>
              </a:ext>
            </a:extLst>
          </p:cNvPr>
          <p:cNvSpPr/>
          <p:nvPr/>
        </p:nvSpPr>
        <p:spPr>
          <a:xfrm>
            <a:off x="-426882" y="3947743"/>
            <a:ext cx="626914" cy="22660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88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Split 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93EA09-B1CB-5F1E-64E9-319B14A598ED}"/>
              </a:ext>
            </a:extLst>
          </p:cNvPr>
          <p:cNvSpPr/>
          <p:nvPr/>
        </p:nvSpPr>
        <p:spPr>
          <a:xfrm>
            <a:off x="-426882" y="4216348"/>
            <a:ext cx="626914" cy="22660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88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Split 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5235B5-DD5B-328A-6D90-72A149A8A1D1}"/>
              </a:ext>
            </a:extLst>
          </p:cNvPr>
          <p:cNvSpPr/>
          <p:nvPr/>
        </p:nvSpPr>
        <p:spPr>
          <a:xfrm>
            <a:off x="-426882" y="4467365"/>
            <a:ext cx="626914" cy="22660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88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Split 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8F4039-8912-8856-8E19-8B6FBB84CCED}"/>
              </a:ext>
            </a:extLst>
          </p:cNvPr>
          <p:cNvSpPr/>
          <p:nvPr/>
        </p:nvSpPr>
        <p:spPr>
          <a:xfrm>
            <a:off x="-300788" y="3297861"/>
            <a:ext cx="3740573" cy="3156470"/>
          </a:xfrm>
          <a:prstGeom prst="rect">
            <a:avLst/>
          </a:prstGeom>
          <a:noFill/>
          <a:ln>
            <a:solidFill>
              <a:srgbClr val="3A0CA3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81">
              <a:solidFill>
                <a:schemeClr val="accent2">
                  <a:lumMod val="7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114A903-B10D-7473-C62C-46BBE124D56B}"/>
              </a:ext>
            </a:extLst>
          </p:cNvPr>
          <p:cNvCxnSpPr>
            <a:cxnSpLocks/>
          </p:cNvCxnSpPr>
          <p:nvPr/>
        </p:nvCxnSpPr>
        <p:spPr>
          <a:xfrm>
            <a:off x="1572822" y="5691018"/>
            <a:ext cx="0" cy="232185"/>
          </a:xfrm>
          <a:prstGeom prst="straightConnector1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8A511480-D3CF-8F3E-703A-7B67EA8760E7}"/>
              </a:ext>
            </a:extLst>
          </p:cNvPr>
          <p:cNvSpPr/>
          <p:nvPr/>
        </p:nvSpPr>
        <p:spPr>
          <a:xfrm>
            <a:off x="-267485" y="5912963"/>
            <a:ext cx="3707266" cy="5413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8" dirty="0">
                <a:solidFill>
                  <a:srgbClr val="3A0CA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Optuna ranks the n_trials scores to provide the </a:t>
            </a:r>
            <a:r>
              <a:rPr lang="en-GB" sz="1008" b="1" dirty="0">
                <a:solidFill>
                  <a:srgbClr val="3A0CA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best hyper-parameter set </a:t>
            </a:r>
            <a:r>
              <a:rPr lang="en-GB" sz="1008" dirty="0">
                <a:solidFill>
                  <a:srgbClr val="3A0CA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and trains the model with it over the whole outer training dataset.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2EB3DE-45F8-9DE9-379C-17DC1E64DDE1}"/>
              </a:ext>
            </a:extLst>
          </p:cNvPr>
          <p:cNvSpPr/>
          <p:nvPr/>
        </p:nvSpPr>
        <p:spPr>
          <a:xfrm>
            <a:off x="110135" y="3486245"/>
            <a:ext cx="3271998" cy="224404"/>
          </a:xfrm>
          <a:prstGeom prst="rect">
            <a:avLst/>
          </a:prstGeom>
          <a:gradFill flip="none" rotWithShape="1">
            <a:gsLst>
              <a:gs pos="66000">
                <a:srgbClr val="FF0066"/>
              </a:gs>
              <a:gs pos="100000">
                <a:srgbClr val="E98A15"/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8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Outer Training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2DF961-2747-A817-9B24-DCFF1598D38E}"/>
              </a:ext>
            </a:extLst>
          </p:cNvPr>
          <p:cNvSpPr txBox="1"/>
          <p:nvPr/>
        </p:nvSpPr>
        <p:spPr>
          <a:xfrm>
            <a:off x="142973" y="3276216"/>
            <a:ext cx="3263144" cy="252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8" dirty="0">
                <a:solidFill>
                  <a:srgbClr val="FF006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80 %</a:t>
            </a:r>
          </a:p>
        </p:txBody>
      </p:sp>
      <p:pic>
        <p:nvPicPr>
          <p:cNvPr id="27" name="Graphic 26" descr="Refresh with solid fill">
            <a:extLst>
              <a:ext uri="{FF2B5EF4-FFF2-40B4-BE49-F238E27FC236}">
                <a16:creationId xmlns:a16="http://schemas.microsoft.com/office/drawing/2014/main" id="{13C6177C-0FC0-9ACD-20E7-329191E132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062" y="3098578"/>
            <a:ext cx="135965" cy="13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763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409</Words>
  <Application>Microsoft Office PowerPoint</Application>
  <PresentationFormat>Custom</PresentationFormat>
  <Paragraphs>74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Pillosu</dc:creator>
  <cp:lastModifiedBy>Fatima Maria Pillosu</cp:lastModifiedBy>
  <cp:revision>1</cp:revision>
  <dcterms:created xsi:type="dcterms:W3CDTF">2025-04-30T08:44:25Z</dcterms:created>
  <dcterms:modified xsi:type="dcterms:W3CDTF">2026-01-23T10:08:26Z</dcterms:modified>
</cp:coreProperties>
</file>