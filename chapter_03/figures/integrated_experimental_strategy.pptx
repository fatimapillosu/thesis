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8" r:id="rId1"/>
  </p:sldMasterIdLst>
  <p:notesMasterIdLst>
    <p:notesMasterId r:id="rId3"/>
  </p:notesMasterIdLst>
  <p:sldIdLst>
    <p:sldId id="257" r:id="rId2"/>
  </p:sldIdLst>
  <p:sldSz cx="4140200" cy="61563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22222"/>
    <a:srgbClr val="FE9202"/>
    <a:srgbClr val="E68301"/>
    <a:srgbClr val="FF595E"/>
    <a:srgbClr val="3F37C9"/>
    <a:srgbClr val="54B4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494" autoAdjust="0"/>
    <p:restoredTop sz="96327" autoAdjust="0"/>
  </p:normalViewPr>
  <p:slideViewPr>
    <p:cSldViewPr snapToGrid="0">
      <p:cViewPr varScale="1">
        <p:scale>
          <a:sx n="88" d="100"/>
          <a:sy n="88" d="100"/>
        </p:scale>
        <p:origin x="280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tima Pillosu" userId="a6295d4dc9e22643" providerId="LiveId" clId="{87453732-75AC-4426-B5D3-B7C69C2D4F54}"/>
    <pc:docChg chg="undo custSel modSld">
      <pc:chgData name="Fatima Pillosu" userId="a6295d4dc9e22643" providerId="LiveId" clId="{87453732-75AC-4426-B5D3-B7C69C2D4F54}" dt="2026-01-20T12:31:26.924" v="22" actId="1036"/>
      <pc:docMkLst>
        <pc:docMk/>
      </pc:docMkLst>
      <pc:sldChg chg="modSp mod">
        <pc:chgData name="Fatima Pillosu" userId="a6295d4dc9e22643" providerId="LiveId" clId="{87453732-75AC-4426-B5D3-B7C69C2D4F54}" dt="2026-01-20T12:31:26.924" v="22" actId="1036"/>
        <pc:sldMkLst>
          <pc:docMk/>
          <pc:sldMk cId="4289110639" sldId="257"/>
        </pc:sldMkLst>
        <pc:spChg chg="mod">
          <ac:chgData name="Fatima Pillosu" userId="a6295d4dc9e22643" providerId="LiveId" clId="{87453732-75AC-4426-B5D3-B7C69C2D4F54}" dt="2026-01-20T12:31:26.924" v="22" actId="1036"/>
          <ac:spMkLst>
            <pc:docMk/>
            <pc:sldMk cId="4289110639" sldId="257"/>
            <ac:spMk id="67" creationId="{5137CFD3-310B-C4B7-5CBF-D6EBE8384DFF}"/>
          </ac:spMkLst>
        </pc:spChg>
        <pc:spChg chg="mod ord">
          <ac:chgData name="Fatima Pillosu" userId="a6295d4dc9e22643" providerId="LiveId" clId="{87453732-75AC-4426-B5D3-B7C69C2D4F54}" dt="2026-01-20T12:30:57.412" v="17" actId="1037"/>
          <ac:spMkLst>
            <pc:docMk/>
            <pc:sldMk cId="4289110639" sldId="257"/>
            <ac:spMk id="71" creationId="{C5F22480-43D2-EC6C-C595-536DDF09AC46}"/>
          </ac:spMkLst>
        </pc:spChg>
        <pc:spChg chg="mod">
          <ac:chgData name="Fatima Pillosu" userId="a6295d4dc9e22643" providerId="LiveId" clId="{87453732-75AC-4426-B5D3-B7C69C2D4F54}" dt="2026-01-20T12:31:04.462" v="18" actId="33524"/>
          <ac:spMkLst>
            <pc:docMk/>
            <pc:sldMk cId="4289110639" sldId="257"/>
            <ac:spMk id="87" creationId="{17A4B2C5-47D5-3495-68D8-2CB424DC7257}"/>
          </ac:spMkLst>
        </pc:spChg>
        <pc:spChg chg="mod">
          <ac:chgData name="Fatima Pillosu" userId="a6295d4dc9e22643" providerId="LiveId" clId="{87453732-75AC-4426-B5D3-B7C69C2D4F54}" dt="2026-01-20T12:30:57.412" v="17" actId="1037"/>
          <ac:spMkLst>
            <pc:docMk/>
            <pc:sldMk cId="4289110639" sldId="257"/>
            <ac:spMk id="88" creationId="{DC1CA93F-6FAF-42B3-BBBF-433BE0D7EC1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6F351E-84E9-41B7-B0E8-3865FDEE6578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92363" y="1143000"/>
            <a:ext cx="20732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60BF31-CB9A-440A-B6D9-4411B70F408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06155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0515" y="1007529"/>
            <a:ext cx="3519170" cy="2143313"/>
          </a:xfrm>
        </p:spPr>
        <p:txBody>
          <a:bodyPr anchor="b"/>
          <a:lstStyle>
            <a:lvl1pPr algn="ctr">
              <a:defRPr sz="271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7525" y="3233496"/>
            <a:ext cx="3105150" cy="1486353"/>
          </a:xfrm>
        </p:spPr>
        <p:txBody>
          <a:bodyPr/>
          <a:lstStyle>
            <a:lvl1pPr marL="0" indent="0" algn="ctr">
              <a:buNone/>
              <a:defRPr sz="1087"/>
            </a:lvl1pPr>
            <a:lvl2pPr marL="207020" indent="0" algn="ctr">
              <a:buNone/>
              <a:defRPr sz="906"/>
            </a:lvl2pPr>
            <a:lvl3pPr marL="414040" indent="0" algn="ctr">
              <a:buNone/>
              <a:defRPr sz="815"/>
            </a:lvl3pPr>
            <a:lvl4pPr marL="621060" indent="0" algn="ctr">
              <a:buNone/>
              <a:defRPr sz="724"/>
            </a:lvl4pPr>
            <a:lvl5pPr marL="828081" indent="0" algn="ctr">
              <a:buNone/>
              <a:defRPr sz="724"/>
            </a:lvl5pPr>
            <a:lvl6pPr marL="1035101" indent="0" algn="ctr">
              <a:buNone/>
              <a:defRPr sz="724"/>
            </a:lvl6pPr>
            <a:lvl7pPr marL="1242121" indent="0" algn="ctr">
              <a:buNone/>
              <a:defRPr sz="724"/>
            </a:lvl7pPr>
            <a:lvl8pPr marL="1449141" indent="0" algn="ctr">
              <a:buNone/>
              <a:defRPr sz="724"/>
            </a:lvl8pPr>
            <a:lvl9pPr marL="1656161" indent="0" algn="ctr">
              <a:buNone/>
              <a:defRPr sz="724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97ECD-701F-43E5-BEEA-27FD7C580DC1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0EB8-EF91-43E9-AEAC-873FBB9602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80192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97ECD-701F-43E5-BEEA-27FD7C580DC1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0EB8-EF91-43E9-AEAC-873FBB9602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751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2482" y="1534808"/>
            <a:ext cx="3570923" cy="2560860"/>
          </a:xfrm>
        </p:spPr>
        <p:txBody>
          <a:bodyPr anchor="b"/>
          <a:lstStyle>
            <a:lvl1pPr>
              <a:defRPr sz="271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2482" y="4119894"/>
            <a:ext cx="3570923" cy="1346696"/>
          </a:xfrm>
        </p:spPr>
        <p:txBody>
          <a:bodyPr/>
          <a:lstStyle>
            <a:lvl1pPr marL="0" indent="0">
              <a:buNone/>
              <a:defRPr sz="1087">
                <a:solidFill>
                  <a:schemeClr val="tx1">
                    <a:tint val="82000"/>
                  </a:schemeClr>
                </a:solidFill>
              </a:defRPr>
            </a:lvl1pPr>
            <a:lvl2pPr marL="207020" indent="0">
              <a:buNone/>
              <a:defRPr sz="906">
                <a:solidFill>
                  <a:schemeClr val="tx1">
                    <a:tint val="82000"/>
                  </a:schemeClr>
                </a:solidFill>
              </a:defRPr>
            </a:lvl2pPr>
            <a:lvl3pPr marL="414040" indent="0">
              <a:buNone/>
              <a:defRPr sz="815">
                <a:solidFill>
                  <a:schemeClr val="tx1">
                    <a:tint val="82000"/>
                  </a:schemeClr>
                </a:solidFill>
              </a:defRPr>
            </a:lvl3pPr>
            <a:lvl4pPr marL="621060" indent="0">
              <a:buNone/>
              <a:defRPr sz="724">
                <a:solidFill>
                  <a:schemeClr val="tx1">
                    <a:tint val="82000"/>
                  </a:schemeClr>
                </a:solidFill>
              </a:defRPr>
            </a:lvl4pPr>
            <a:lvl5pPr marL="828081" indent="0">
              <a:buNone/>
              <a:defRPr sz="724">
                <a:solidFill>
                  <a:schemeClr val="tx1">
                    <a:tint val="82000"/>
                  </a:schemeClr>
                </a:solidFill>
              </a:defRPr>
            </a:lvl5pPr>
            <a:lvl6pPr marL="1035101" indent="0">
              <a:buNone/>
              <a:defRPr sz="724">
                <a:solidFill>
                  <a:schemeClr val="tx1">
                    <a:tint val="82000"/>
                  </a:schemeClr>
                </a:solidFill>
              </a:defRPr>
            </a:lvl6pPr>
            <a:lvl7pPr marL="1242121" indent="0">
              <a:buNone/>
              <a:defRPr sz="724">
                <a:solidFill>
                  <a:schemeClr val="tx1">
                    <a:tint val="82000"/>
                  </a:schemeClr>
                </a:solidFill>
              </a:defRPr>
            </a:lvl7pPr>
            <a:lvl8pPr marL="1449141" indent="0">
              <a:buNone/>
              <a:defRPr sz="724">
                <a:solidFill>
                  <a:schemeClr val="tx1">
                    <a:tint val="82000"/>
                  </a:schemeClr>
                </a:solidFill>
              </a:defRPr>
            </a:lvl8pPr>
            <a:lvl9pPr marL="1656161" indent="0">
              <a:buNone/>
              <a:defRPr sz="72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97ECD-701F-43E5-BEEA-27FD7C580DC1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0EB8-EF91-43E9-AEAC-873FBB9602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96243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84639" y="1638836"/>
            <a:ext cx="1759585" cy="39061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95976" y="1638836"/>
            <a:ext cx="1759585" cy="39061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97ECD-701F-43E5-BEEA-27FD7C580DC1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0EB8-EF91-43E9-AEAC-873FBB9602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12214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178" y="327769"/>
            <a:ext cx="3570923" cy="1189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5179" y="1509155"/>
            <a:ext cx="1751498" cy="739614"/>
          </a:xfrm>
        </p:spPr>
        <p:txBody>
          <a:bodyPr anchor="b"/>
          <a:lstStyle>
            <a:lvl1pPr marL="0" indent="0">
              <a:buNone/>
              <a:defRPr sz="1087" b="1"/>
            </a:lvl1pPr>
            <a:lvl2pPr marL="207020" indent="0">
              <a:buNone/>
              <a:defRPr sz="906" b="1"/>
            </a:lvl2pPr>
            <a:lvl3pPr marL="414040" indent="0">
              <a:buNone/>
              <a:defRPr sz="815" b="1"/>
            </a:lvl3pPr>
            <a:lvl4pPr marL="621060" indent="0">
              <a:buNone/>
              <a:defRPr sz="724" b="1"/>
            </a:lvl4pPr>
            <a:lvl5pPr marL="828081" indent="0">
              <a:buNone/>
              <a:defRPr sz="724" b="1"/>
            </a:lvl5pPr>
            <a:lvl6pPr marL="1035101" indent="0">
              <a:buNone/>
              <a:defRPr sz="724" b="1"/>
            </a:lvl6pPr>
            <a:lvl7pPr marL="1242121" indent="0">
              <a:buNone/>
              <a:defRPr sz="724" b="1"/>
            </a:lvl7pPr>
            <a:lvl8pPr marL="1449141" indent="0">
              <a:buNone/>
              <a:defRPr sz="724" b="1"/>
            </a:lvl8pPr>
            <a:lvl9pPr marL="1656161" indent="0">
              <a:buNone/>
              <a:defRPr sz="72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85179" y="2248769"/>
            <a:ext cx="1751498" cy="3307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095977" y="1509155"/>
            <a:ext cx="1760124" cy="739614"/>
          </a:xfrm>
        </p:spPr>
        <p:txBody>
          <a:bodyPr anchor="b"/>
          <a:lstStyle>
            <a:lvl1pPr marL="0" indent="0">
              <a:buNone/>
              <a:defRPr sz="1087" b="1"/>
            </a:lvl1pPr>
            <a:lvl2pPr marL="207020" indent="0">
              <a:buNone/>
              <a:defRPr sz="906" b="1"/>
            </a:lvl2pPr>
            <a:lvl3pPr marL="414040" indent="0">
              <a:buNone/>
              <a:defRPr sz="815" b="1"/>
            </a:lvl3pPr>
            <a:lvl4pPr marL="621060" indent="0">
              <a:buNone/>
              <a:defRPr sz="724" b="1"/>
            </a:lvl4pPr>
            <a:lvl5pPr marL="828081" indent="0">
              <a:buNone/>
              <a:defRPr sz="724" b="1"/>
            </a:lvl5pPr>
            <a:lvl6pPr marL="1035101" indent="0">
              <a:buNone/>
              <a:defRPr sz="724" b="1"/>
            </a:lvl6pPr>
            <a:lvl7pPr marL="1242121" indent="0">
              <a:buNone/>
              <a:defRPr sz="724" b="1"/>
            </a:lvl7pPr>
            <a:lvl8pPr marL="1449141" indent="0">
              <a:buNone/>
              <a:defRPr sz="724" b="1"/>
            </a:lvl8pPr>
            <a:lvl9pPr marL="1656161" indent="0">
              <a:buNone/>
              <a:defRPr sz="72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095977" y="2248769"/>
            <a:ext cx="1760124" cy="3307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97ECD-701F-43E5-BEEA-27FD7C580DC1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0EB8-EF91-43E9-AEAC-873FBB9602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7771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97ECD-701F-43E5-BEEA-27FD7C580DC1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0EB8-EF91-43E9-AEAC-873FBB9602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61753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97ECD-701F-43E5-BEEA-27FD7C580DC1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0EB8-EF91-43E9-AEAC-873FBB9602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24861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178" y="410422"/>
            <a:ext cx="1335322" cy="1436476"/>
          </a:xfrm>
        </p:spPr>
        <p:txBody>
          <a:bodyPr anchor="b"/>
          <a:lstStyle>
            <a:lvl1pPr>
              <a:defRPr sz="144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60124" y="886398"/>
            <a:ext cx="2095976" cy="4374981"/>
          </a:xfrm>
        </p:spPr>
        <p:txBody>
          <a:bodyPr/>
          <a:lstStyle>
            <a:lvl1pPr>
              <a:defRPr sz="1449"/>
            </a:lvl1pPr>
            <a:lvl2pPr>
              <a:defRPr sz="1268"/>
            </a:lvl2pPr>
            <a:lvl3pPr>
              <a:defRPr sz="1087"/>
            </a:lvl3pPr>
            <a:lvl4pPr>
              <a:defRPr sz="906"/>
            </a:lvl4pPr>
            <a:lvl5pPr>
              <a:defRPr sz="906"/>
            </a:lvl5pPr>
            <a:lvl6pPr>
              <a:defRPr sz="906"/>
            </a:lvl6pPr>
            <a:lvl7pPr>
              <a:defRPr sz="906"/>
            </a:lvl7pPr>
            <a:lvl8pPr>
              <a:defRPr sz="906"/>
            </a:lvl8pPr>
            <a:lvl9pPr>
              <a:defRPr sz="90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5178" y="1846898"/>
            <a:ext cx="1335322" cy="3421606"/>
          </a:xfrm>
        </p:spPr>
        <p:txBody>
          <a:bodyPr/>
          <a:lstStyle>
            <a:lvl1pPr marL="0" indent="0">
              <a:buNone/>
              <a:defRPr sz="724"/>
            </a:lvl1pPr>
            <a:lvl2pPr marL="207020" indent="0">
              <a:buNone/>
              <a:defRPr sz="634"/>
            </a:lvl2pPr>
            <a:lvl3pPr marL="414040" indent="0">
              <a:buNone/>
              <a:defRPr sz="543"/>
            </a:lvl3pPr>
            <a:lvl4pPr marL="621060" indent="0">
              <a:buNone/>
              <a:defRPr sz="453"/>
            </a:lvl4pPr>
            <a:lvl5pPr marL="828081" indent="0">
              <a:buNone/>
              <a:defRPr sz="453"/>
            </a:lvl5pPr>
            <a:lvl6pPr marL="1035101" indent="0">
              <a:buNone/>
              <a:defRPr sz="453"/>
            </a:lvl6pPr>
            <a:lvl7pPr marL="1242121" indent="0">
              <a:buNone/>
              <a:defRPr sz="453"/>
            </a:lvl7pPr>
            <a:lvl8pPr marL="1449141" indent="0">
              <a:buNone/>
              <a:defRPr sz="453"/>
            </a:lvl8pPr>
            <a:lvl9pPr marL="1656161" indent="0">
              <a:buNone/>
              <a:defRPr sz="45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97ECD-701F-43E5-BEEA-27FD7C580DC1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0EB8-EF91-43E9-AEAC-873FBB9602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8390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178" y="410422"/>
            <a:ext cx="1335322" cy="1436476"/>
          </a:xfrm>
        </p:spPr>
        <p:txBody>
          <a:bodyPr anchor="b"/>
          <a:lstStyle>
            <a:lvl1pPr>
              <a:defRPr sz="144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60124" y="886398"/>
            <a:ext cx="2095976" cy="4374981"/>
          </a:xfrm>
        </p:spPr>
        <p:txBody>
          <a:bodyPr anchor="t"/>
          <a:lstStyle>
            <a:lvl1pPr marL="0" indent="0">
              <a:buNone/>
              <a:defRPr sz="1449"/>
            </a:lvl1pPr>
            <a:lvl2pPr marL="207020" indent="0">
              <a:buNone/>
              <a:defRPr sz="1268"/>
            </a:lvl2pPr>
            <a:lvl3pPr marL="414040" indent="0">
              <a:buNone/>
              <a:defRPr sz="1087"/>
            </a:lvl3pPr>
            <a:lvl4pPr marL="621060" indent="0">
              <a:buNone/>
              <a:defRPr sz="906"/>
            </a:lvl4pPr>
            <a:lvl5pPr marL="828081" indent="0">
              <a:buNone/>
              <a:defRPr sz="906"/>
            </a:lvl5pPr>
            <a:lvl6pPr marL="1035101" indent="0">
              <a:buNone/>
              <a:defRPr sz="906"/>
            </a:lvl6pPr>
            <a:lvl7pPr marL="1242121" indent="0">
              <a:buNone/>
              <a:defRPr sz="906"/>
            </a:lvl7pPr>
            <a:lvl8pPr marL="1449141" indent="0">
              <a:buNone/>
              <a:defRPr sz="906"/>
            </a:lvl8pPr>
            <a:lvl9pPr marL="1656161" indent="0">
              <a:buNone/>
              <a:defRPr sz="906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5178" y="1846898"/>
            <a:ext cx="1335322" cy="3421606"/>
          </a:xfrm>
        </p:spPr>
        <p:txBody>
          <a:bodyPr/>
          <a:lstStyle>
            <a:lvl1pPr marL="0" indent="0">
              <a:buNone/>
              <a:defRPr sz="724"/>
            </a:lvl1pPr>
            <a:lvl2pPr marL="207020" indent="0">
              <a:buNone/>
              <a:defRPr sz="634"/>
            </a:lvl2pPr>
            <a:lvl3pPr marL="414040" indent="0">
              <a:buNone/>
              <a:defRPr sz="543"/>
            </a:lvl3pPr>
            <a:lvl4pPr marL="621060" indent="0">
              <a:buNone/>
              <a:defRPr sz="453"/>
            </a:lvl4pPr>
            <a:lvl5pPr marL="828081" indent="0">
              <a:buNone/>
              <a:defRPr sz="453"/>
            </a:lvl5pPr>
            <a:lvl6pPr marL="1035101" indent="0">
              <a:buNone/>
              <a:defRPr sz="453"/>
            </a:lvl6pPr>
            <a:lvl7pPr marL="1242121" indent="0">
              <a:buNone/>
              <a:defRPr sz="453"/>
            </a:lvl7pPr>
            <a:lvl8pPr marL="1449141" indent="0">
              <a:buNone/>
              <a:defRPr sz="453"/>
            </a:lvl8pPr>
            <a:lvl9pPr marL="1656161" indent="0">
              <a:buNone/>
              <a:defRPr sz="45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97ECD-701F-43E5-BEEA-27FD7C580DC1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0EB8-EF91-43E9-AEAC-873FBB9602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06462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97ECD-701F-43E5-BEEA-27FD7C580DC1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0EB8-EF91-43E9-AEAC-873FBB9602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59130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962831" y="327767"/>
            <a:ext cx="892731" cy="52172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639" y="327767"/>
            <a:ext cx="2626439" cy="52172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97ECD-701F-43E5-BEEA-27FD7C580DC1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0EB8-EF91-43E9-AEAC-873FBB9602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450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639" y="327769"/>
            <a:ext cx="3570923" cy="1189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4639" y="1638836"/>
            <a:ext cx="3570923" cy="39061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84639" y="5706003"/>
            <a:ext cx="931545" cy="3277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4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C97ECD-701F-43E5-BEEA-27FD7C580DC1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71441" y="5706003"/>
            <a:ext cx="1397318" cy="3277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4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924016" y="5706003"/>
            <a:ext cx="931545" cy="3277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4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E80EB8-EF91-43E9-AEAC-873FBB9602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4917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9" r:id="rId1"/>
    <p:sldLayoutId id="2147483890" r:id="rId2"/>
    <p:sldLayoutId id="2147483891" r:id="rId3"/>
    <p:sldLayoutId id="2147483892" r:id="rId4"/>
    <p:sldLayoutId id="2147483893" r:id="rId5"/>
    <p:sldLayoutId id="2147483894" r:id="rId6"/>
    <p:sldLayoutId id="2147483895" r:id="rId7"/>
    <p:sldLayoutId id="2147483896" r:id="rId8"/>
    <p:sldLayoutId id="2147483897" r:id="rId9"/>
    <p:sldLayoutId id="2147483898" r:id="rId10"/>
    <p:sldLayoutId id="2147483899" r:id="rId11"/>
  </p:sldLayoutIdLst>
  <p:txStyles>
    <p:titleStyle>
      <a:lvl1pPr algn="l" defTabSz="414040" rtl="0" eaLnBrk="1" latinLnBrk="0" hangingPunct="1">
        <a:lnSpc>
          <a:spcPct val="90000"/>
        </a:lnSpc>
        <a:spcBef>
          <a:spcPct val="0"/>
        </a:spcBef>
        <a:buNone/>
        <a:defRPr sz="199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3510" indent="-103510" algn="l" defTabSz="414040" rtl="0" eaLnBrk="1" latinLnBrk="0" hangingPunct="1">
        <a:lnSpc>
          <a:spcPct val="90000"/>
        </a:lnSpc>
        <a:spcBef>
          <a:spcPts val="453"/>
        </a:spcBef>
        <a:buFont typeface="Arial" panose="020B0604020202020204" pitchFamily="34" charset="0"/>
        <a:buChar char="•"/>
        <a:defRPr sz="1268" kern="1200">
          <a:solidFill>
            <a:schemeClr val="tx1"/>
          </a:solidFill>
          <a:latin typeface="+mn-lt"/>
          <a:ea typeface="+mn-ea"/>
          <a:cs typeface="+mn-cs"/>
        </a:defRPr>
      </a:lvl1pPr>
      <a:lvl2pPr marL="310530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1087" kern="1200">
          <a:solidFill>
            <a:schemeClr val="tx1"/>
          </a:solidFill>
          <a:latin typeface="+mn-lt"/>
          <a:ea typeface="+mn-ea"/>
          <a:cs typeface="+mn-cs"/>
        </a:defRPr>
      </a:lvl2pPr>
      <a:lvl3pPr marL="517550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906" kern="1200">
          <a:solidFill>
            <a:schemeClr val="tx1"/>
          </a:solidFill>
          <a:latin typeface="+mn-lt"/>
          <a:ea typeface="+mn-ea"/>
          <a:cs typeface="+mn-cs"/>
        </a:defRPr>
      </a:lvl3pPr>
      <a:lvl4pPr marL="724571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815" kern="1200">
          <a:solidFill>
            <a:schemeClr val="tx1"/>
          </a:solidFill>
          <a:latin typeface="+mn-lt"/>
          <a:ea typeface="+mn-ea"/>
          <a:cs typeface="+mn-cs"/>
        </a:defRPr>
      </a:lvl4pPr>
      <a:lvl5pPr marL="931591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815" kern="1200">
          <a:solidFill>
            <a:schemeClr val="tx1"/>
          </a:solidFill>
          <a:latin typeface="+mn-lt"/>
          <a:ea typeface="+mn-ea"/>
          <a:cs typeface="+mn-cs"/>
        </a:defRPr>
      </a:lvl5pPr>
      <a:lvl6pPr marL="1138611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815" kern="1200">
          <a:solidFill>
            <a:schemeClr val="tx1"/>
          </a:solidFill>
          <a:latin typeface="+mn-lt"/>
          <a:ea typeface="+mn-ea"/>
          <a:cs typeface="+mn-cs"/>
        </a:defRPr>
      </a:lvl6pPr>
      <a:lvl7pPr marL="1345631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815" kern="1200">
          <a:solidFill>
            <a:schemeClr val="tx1"/>
          </a:solidFill>
          <a:latin typeface="+mn-lt"/>
          <a:ea typeface="+mn-ea"/>
          <a:cs typeface="+mn-cs"/>
        </a:defRPr>
      </a:lvl7pPr>
      <a:lvl8pPr marL="1552651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815" kern="1200">
          <a:solidFill>
            <a:schemeClr val="tx1"/>
          </a:solidFill>
          <a:latin typeface="+mn-lt"/>
          <a:ea typeface="+mn-ea"/>
          <a:cs typeface="+mn-cs"/>
        </a:defRPr>
      </a:lvl8pPr>
      <a:lvl9pPr marL="1759671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81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1pPr>
      <a:lvl2pPr marL="207020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2pPr>
      <a:lvl3pPr marL="414040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3pPr>
      <a:lvl4pPr marL="621060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4pPr>
      <a:lvl5pPr marL="828081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5pPr>
      <a:lvl6pPr marL="1035101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6pPr>
      <a:lvl7pPr marL="1242121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7pPr>
      <a:lvl8pPr marL="1449141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8pPr>
      <a:lvl9pPr marL="1656161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57">
            <a:extLst>
              <a:ext uri="{FF2B5EF4-FFF2-40B4-BE49-F238E27FC236}">
                <a16:creationId xmlns:a16="http://schemas.microsoft.com/office/drawing/2014/main" id="{DDAF3D54-885E-2A29-8D7C-F2C70C58F5B5}"/>
              </a:ext>
            </a:extLst>
          </p:cNvPr>
          <p:cNvSpPr/>
          <p:nvPr/>
        </p:nvSpPr>
        <p:spPr>
          <a:xfrm>
            <a:off x="225304" y="729378"/>
            <a:ext cx="1260000" cy="216000"/>
          </a:xfrm>
          <a:prstGeom prst="rect">
            <a:avLst/>
          </a:prstGeom>
          <a:solidFill>
            <a:srgbClr val="FF595E"/>
          </a:solidFill>
          <a:ln w="28575">
            <a:solidFill>
              <a:srgbClr val="FF595E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Chapter 5</a:t>
            </a:r>
            <a:endParaRPr lang="en-GB" sz="12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CE8AC50-A4E3-9DB6-F606-EB886BE8550D}"/>
              </a:ext>
            </a:extLst>
          </p:cNvPr>
          <p:cNvSpPr txBox="1"/>
          <p:nvPr/>
        </p:nvSpPr>
        <p:spPr>
          <a:xfrm>
            <a:off x="225304" y="2284883"/>
            <a:ext cx="1260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rgbClr val="FF59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Development of a flash-flood-focused verification framework that compares predictions of areas at risk of flash flood against flash flood impact reports. 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DC34E010-EA2E-EFF4-B042-AAD8E29801DE}"/>
              </a:ext>
            </a:extLst>
          </p:cNvPr>
          <p:cNvSpPr/>
          <p:nvPr/>
        </p:nvSpPr>
        <p:spPr>
          <a:xfrm>
            <a:off x="225304" y="951991"/>
            <a:ext cx="1260000" cy="1150136"/>
          </a:xfrm>
          <a:prstGeom prst="rect">
            <a:avLst/>
          </a:prstGeom>
          <a:noFill/>
          <a:ln w="28575">
            <a:solidFill>
              <a:srgbClr val="FF595E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0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A443D769-35EA-ACBB-55BC-2A7FE9B1D174}"/>
              </a:ext>
            </a:extLst>
          </p:cNvPr>
          <p:cNvSpPr/>
          <p:nvPr/>
        </p:nvSpPr>
        <p:spPr>
          <a:xfrm>
            <a:off x="1538503" y="951991"/>
            <a:ext cx="1260000" cy="1150136"/>
          </a:xfrm>
          <a:prstGeom prst="rect">
            <a:avLst/>
          </a:prstGeom>
          <a:noFill/>
          <a:ln w="28575">
            <a:solidFill>
              <a:srgbClr val="E6830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0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541EEEE-3369-14C3-9119-24FBFEC538F6}"/>
              </a:ext>
            </a:extLst>
          </p:cNvPr>
          <p:cNvSpPr txBox="1"/>
          <p:nvPr/>
        </p:nvSpPr>
        <p:spPr>
          <a:xfrm>
            <a:off x="1502300" y="2144736"/>
            <a:ext cx="13324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rgbClr val="E6830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Development of data-driven models that integrate hydro-met variables from global reanalysis and forecasts, and flash flood impact reports to predict areas at risk of flash flood up to medium-range lead times.</a:t>
            </a:r>
            <a:endParaRPr lang="en-GB" sz="800" dirty="0">
              <a:solidFill>
                <a:srgbClr val="E6830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A668C935-54EA-6F8F-0BB1-E7014CC096D7}"/>
              </a:ext>
            </a:extLst>
          </p:cNvPr>
          <p:cNvSpPr/>
          <p:nvPr/>
        </p:nvSpPr>
        <p:spPr>
          <a:xfrm>
            <a:off x="2854142" y="951991"/>
            <a:ext cx="1260000" cy="1152000"/>
          </a:xfrm>
          <a:prstGeom prst="rect">
            <a:avLst/>
          </a:prstGeom>
          <a:noFill/>
          <a:ln w="28575">
            <a:solidFill>
              <a:srgbClr val="3F37C9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0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EEE2271-5967-5ABD-F72A-2D4C2F26C2AA}"/>
              </a:ext>
            </a:extLst>
          </p:cNvPr>
          <p:cNvSpPr txBox="1"/>
          <p:nvPr/>
        </p:nvSpPr>
        <p:spPr>
          <a:xfrm>
            <a:off x="2803065" y="2144736"/>
            <a:ext cx="13621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rgbClr val="3F37C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Assessment - through a systematic empirical sensitivity analysis - of how coverage-density trade-offs may influence training data strategies when creating global predictions with regionally-trained data-driven models.  </a:t>
            </a:r>
            <a:endParaRPr lang="en-GB" sz="800" dirty="0">
              <a:solidFill>
                <a:srgbClr val="3F37C9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E24FD28-FAFB-884F-4CE7-E4FD5429F6E3}"/>
              </a:ext>
            </a:extLst>
          </p:cNvPr>
          <p:cNvSpPr txBox="1"/>
          <p:nvPr/>
        </p:nvSpPr>
        <p:spPr>
          <a:xfrm>
            <a:off x="226098" y="507321"/>
            <a:ext cx="3884812" cy="215444"/>
          </a:xfrm>
          <a:prstGeom prst="rect">
            <a:avLst/>
          </a:prstGeom>
          <a:noFill/>
          <a:ln w="6350">
            <a:noFill/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en-GB" sz="800" b="1" u="sng" dirty="0">
                <a:solidFill>
                  <a:srgbClr val="2222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MAIN ANALYSIS </a:t>
            </a:r>
            <a:r>
              <a:rPr lang="en-GB" sz="800" dirty="0">
                <a:solidFill>
                  <a:srgbClr val="22222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CHAPTERS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6EB6FA0-CBE1-9983-F1CC-346BCA2848D4}"/>
              </a:ext>
            </a:extLst>
          </p:cNvPr>
          <p:cNvSpPr txBox="1"/>
          <p:nvPr/>
        </p:nvSpPr>
        <p:spPr>
          <a:xfrm>
            <a:off x="-81390" y="-78511"/>
            <a:ext cx="4246609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 b="1" dirty="0">
                <a:solidFill>
                  <a:srgbClr val="2222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Thesis’ integrated experimental strategy </a:t>
            </a:r>
          </a:p>
          <a:p>
            <a:r>
              <a:rPr lang="en-US" sz="1000" u="sng" dirty="0">
                <a:solidFill>
                  <a:srgbClr val="22222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Methodological decisions</a:t>
            </a:r>
            <a:r>
              <a:rPr lang="en-US" sz="1000" dirty="0">
                <a:solidFill>
                  <a:srgbClr val="22222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underlying the research questions and objectives presented in each main analysis chapter</a:t>
            </a:r>
            <a:endParaRPr lang="en-GB" sz="1000" dirty="0">
              <a:solidFill>
                <a:srgbClr val="222222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5137CFD3-310B-C4B7-5CBF-D6EBE8384DFF}"/>
              </a:ext>
            </a:extLst>
          </p:cNvPr>
          <p:cNvSpPr/>
          <p:nvPr/>
        </p:nvSpPr>
        <p:spPr>
          <a:xfrm>
            <a:off x="27388" y="3679506"/>
            <a:ext cx="4083522" cy="2447326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222222"/>
              </a:solidFill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097776E-A046-4D6E-89DA-50B1F5A3FAF4}"/>
              </a:ext>
            </a:extLst>
          </p:cNvPr>
          <p:cNvSpPr txBox="1"/>
          <p:nvPr/>
        </p:nvSpPr>
        <p:spPr>
          <a:xfrm>
            <a:off x="14151" y="3780307"/>
            <a:ext cx="369332" cy="2309583"/>
          </a:xfrm>
          <a:prstGeom prst="rect">
            <a:avLst/>
          </a:prstGeom>
          <a:noFill/>
          <a:ln w="6350">
            <a:noFill/>
          </a:ln>
        </p:spPr>
        <p:txBody>
          <a:bodyPr vert="vert270" wrap="square" rtlCol="0">
            <a:spAutoFit/>
          </a:bodyPr>
          <a:lstStyle/>
          <a:p>
            <a:pPr algn="ctr"/>
            <a:r>
              <a:rPr lang="en-GB" sz="1200" b="1" dirty="0">
                <a:solidFill>
                  <a:srgbClr val="2222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METHODOLOGICAL DECISIONS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1402EF05-0A8D-81FE-F96A-820C0CB99803}"/>
              </a:ext>
            </a:extLst>
          </p:cNvPr>
          <p:cNvSpPr/>
          <p:nvPr/>
        </p:nvSpPr>
        <p:spPr>
          <a:xfrm>
            <a:off x="1346732" y="5354887"/>
            <a:ext cx="2558970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rgbClr val="222222"/>
              </a:solidFill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4CDF8D29-A1A4-B6EF-CC2D-02154951F423}"/>
              </a:ext>
            </a:extLst>
          </p:cNvPr>
          <p:cNvSpPr/>
          <p:nvPr/>
        </p:nvSpPr>
        <p:spPr>
          <a:xfrm>
            <a:off x="378054" y="5354371"/>
            <a:ext cx="971299" cy="722308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rgbClr val="222222"/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5CF77BB-AB79-BDF7-1AD9-C8ABDB188BCE}"/>
              </a:ext>
            </a:extLst>
          </p:cNvPr>
          <p:cNvSpPr txBox="1"/>
          <p:nvPr/>
        </p:nvSpPr>
        <p:spPr>
          <a:xfrm>
            <a:off x="402687" y="5415915"/>
            <a:ext cx="1008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Section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E0D8E67-F738-7066-FAAB-7F1C9C0D3446}"/>
              </a:ext>
            </a:extLst>
          </p:cNvPr>
          <p:cNvSpPr txBox="1"/>
          <p:nvPr/>
        </p:nvSpPr>
        <p:spPr>
          <a:xfrm>
            <a:off x="386211" y="5482527"/>
            <a:ext cx="96314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000" b="1" dirty="0">
                <a:solidFill>
                  <a:srgbClr val="2222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3.3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716E92A3-A5CC-93CB-1E03-1C50F1F6DD03}"/>
              </a:ext>
            </a:extLst>
          </p:cNvPr>
          <p:cNvSpPr/>
          <p:nvPr/>
        </p:nvSpPr>
        <p:spPr>
          <a:xfrm>
            <a:off x="1538503" y="729378"/>
            <a:ext cx="1260000" cy="216000"/>
          </a:xfrm>
          <a:prstGeom prst="rect">
            <a:avLst/>
          </a:prstGeom>
          <a:solidFill>
            <a:srgbClr val="E68301"/>
          </a:solidFill>
          <a:ln w="28575">
            <a:solidFill>
              <a:srgbClr val="E6830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Chapter 6</a:t>
            </a:r>
            <a:endParaRPr lang="en-GB" sz="12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C0C067FC-01D1-B083-6206-56A46662729A}"/>
              </a:ext>
            </a:extLst>
          </p:cNvPr>
          <p:cNvSpPr/>
          <p:nvPr/>
        </p:nvSpPr>
        <p:spPr>
          <a:xfrm>
            <a:off x="2854142" y="729378"/>
            <a:ext cx="1260000" cy="216000"/>
          </a:xfrm>
          <a:prstGeom prst="rect">
            <a:avLst/>
          </a:prstGeom>
          <a:solidFill>
            <a:srgbClr val="3F37C9"/>
          </a:solidFill>
          <a:ln w="28575">
            <a:solidFill>
              <a:srgbClr val="3F37C9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Chapter 7</a:t>
            </a:r>
            <a:endParaRPr lang="en-GB" sz="12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649A66B3-B899-4304-E071-230DD34AFBC3}"/>
              </a:ext>
            </a:extLst>
          </p:cNvPr>
          <p:cNvSpPr/>
          <p:nvPr/>
        </p:nvSpPr>
        <p:spPr>
          <a:xfrm>
            <a:off x="1346732" y="4557427"/>
            <a:ext cx="2558970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rgbClr val="222222"/>
              </a:solidFill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0949695F-9A1D-9DE9-6A11-1A7363D5D06D}"/>
              </a:ext>
            </a:extLst>
          </p:cNvPr>
          <p:cNvSpPr/>
          <p:nvPr/>
        </p:nvSpPr>
        <p:spPr>
          <a:xfrm>
            <a:off x="378054" y="4556911"/>
            <a:ext cx="971299" cy="722308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6499A74-7ADD-8575-125F-3A9F7DAB54FD}"/>
              </a:ext>
            </a:extLst>
          </p:cNvPr>
          <p:cNvSpPr txBox="1"/>
          <p:nvPr/>
        </p:nvSpPr>
        <p:spPr>
          <a:xfrm>
            <a:off x="402687" y="4618455"/>
            <a:ext cx="1008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Section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7998562-8C2F-313F-516D-39037195BB26}"/>
              </a:ext>
            </a:extLst>
          </p:cNvPr>
          <p:cNvSpPr txBox="1"/>
          <p:nvPr/>
        </p:nvSpPr>
        <p:spPr>
          <a:xfrm>
            <a:off x="386211" y="4685067"/>
            <a:ext cx="96314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000" b="1" dirty="0">
                <a:solidFill>
                  <a:srgbClr val="2222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3.2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80D3517E-1814-BABC-8B8F-AB5B211A3AA1}"/>
              </a:ext>
            </a:extLst>
          </p:cNvPr>
          <p:cNvSpPr/>
          <p:nvPr/>
        </p:nvSpPr>
        <p:spPr>
          <a:xfrm>
            <a:off x="1346732" y="3765305"/>
            <a:ext cx="2558970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rgbClr val="222222"/>
              </a:solidFill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A6BE4838-1365-D3B7-CEDE-D7E2E62B7F31}"/>
              </a:ext>
            </a:extLst>
          </p:cNvPr>
          <p:cNvSpPr/>
          <p:nvPr/>
        </p:nvSpPr>
        <p:spPr>
          <a:xfrm>
            <a:off x="378054" y="3764789"/>
            <a:ext cx="971299" cy="722308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rgbClr val="222222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8735F6D1-5555-E7D6-D0BB-A64923855C01}"/>
              </a:ext>
            </a:extLst>
          </p:cNvPr>
          <p:cNvSpPr txBox="1"/>
          <p:nvPr/>
        </p:nvSpPr>
        <p:spPr>
          <a:xfrm>
            <a:off x="402687" y="3826333"/>
            <a:ext cx="1008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Section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2B972E94-DE4C-66D0-A6A3-F1E9C69D6169}"/>
              </a:ext>
            </a:extLst>
          </p:cNvPr>
          <p:cNvSpPr txBox="1"/>
          <p:nvPr/>
        </p:nvSpPr>
        <p:spPr>
          <a:xfrm>
            <a:off x="386211" y="3892945"/>
            <a:ext cx="96314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000" b="1" dirty="0">
                <a:solidFill>
                  <a:srgbClr val="2222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3.1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0F40EDD3-6828-DA92-C5B8-A892A73FD4CE}"/>
              </a:ext>
            </a:extLst>
          </p:cNvPr>
          <p:cNvSpPr/>
          <p:nvPr/>
        </p:nvSpPr>
        <p:spPr>
          <a:xfrm>
            <a:off x="3940331" y="3765305"/>
            <a:ext cx="72000" cy="216000"/>
          </a:xfrm>
          <a:prstGeom prst="rect">
            <a:avLst/>
          </a:prstGeom>
          <a:solidFill>
            <a:srgbClr val="FF595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222222"/>
              </a:solidFill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4BC09263-C830-303A-BB0C-2207AFEFF22B}"/>
              </a:ext>
            </a:extLst>
          </p:cNvPr>
          <p:cNvSpPr/>
          <p:nvPr/>
        </p:nvSpPr>
        <p:spPr>
          <a:xfrm>
            <a:off x="3940282" y="4017305"/>
            <a:ext cx="72000" cy="216000"/>
          </a:xfrm>
          <a:prstGeom prst="rect">
            <a:avLst/>
          </a:prstGeom>
          <a:solidFill>
            <a:srgbClr val="E683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222222"/>
              </a:solidFill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8BFC4AA3-C582-B088-949F-3006D7236AAA}"/>
              </a:ext>
            </a:extLst>
          </p:cNvPr>
          <p:cNvSpPr/>
          <p:nvPr/>
        </p:nvSpPr>
        <p:spPr>
          <a:xfrm>
            <a:off x="3940282" y="4269305"/>
            <a:ext cx="72000" cy="216000"/>
          </a:xfrm>
          <a:prstGeom prst="rect">
            <a:avLst/>
          </a:prstGeom>
          <a:solidFill>
            <a:srgbClr val="3F37C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222222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17A4B2C5-47D5-3495-68D8-2CB424DC7257}"/>
              </a:ext>
            </a:extLst>
          </p:cNvPr>
          <p:cNvSpPr txBox="1"/>
          <p:nvPr/>
        </p:nvSpPr>
        <p:spPr>
          <a:xfrm>
            <a:off x="1381568" y="3841984"/>
            <a:ext cx="245043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b="1" dirty="0">
                <a:solidFill>
                  <a:srgbClr val="2222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SELECTION OF DATA SOURCES </a:t>
            </a:r>
          </a:p>
          <a:p>
            <a:r>
              <a:rPr lang="en-GB" sz="1000" dirty="0">
                <a:solidFill>
                  <a:srgbClr val="22222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For model development and operational implementation and forecast verification. 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DC1CA93F-6FAF-42B3-BBBF-433BE0D7EC13}"/>
              </a:ext>
            </a:extLst>
          </p:cNvPr>
          <p:cNvSpPr txBox="1"/>
          <p:nvPr/>
        </p:nvSpPr>
        <p:spPr>
          <a:xfrm>
            <a:off x="1381568" y="5439268"/>
            <a:ext cx="239681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b="1" dirty="0">
                <a:solidFill>
                  <a:srgbClr val="2222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FORECAST VERIFICATION STRATEGY</a:t>
            </a:r>
          </a:p>
          <a:p>
            <a:r>
              <a:rPr lang="en-GB" sz="1000" dirty="0">
                <a:solidFill>
                  <a:srgbClr val="22222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For rainfall-based and hydro-met predictions of areas at risk of flash floods.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0C8CE056-7612-0128-B393-AE3D0105B0B0}"/>
              </a:ext>
            </a:extLst>
          </p:cNvPr>
          <p:cNvSpPr txBox="1"/>
          <p:nvPr/>
        </p:nvSpPr>
        <p:spPr>
          <a:xfrm>
            <a:off x="-40168" y="960896"/>
            <a:ext cx="307777" cy="1141231"/>
          </a:xfrm>
          <a:prstGeom prst="rect">
            <a:avLst/>
          </a:prstGeom>
          <a:noFill/>
          <a:ln w="6350">
            <a:noFill/>
          </a:ln>
        </p:spPr>
        <p:txBody>
          <a:bodyPr vert="vert270" wrap="square" rtlCol="0">
            <a:spAutoFit/>
          </a:bodyPr>
          <a:lstStyle/>
          <a:p>
            <a:pPr algn="ctr"/>
            <a:r>
              <a:rPr lang="en-GB" sz="800" b="1" dirty="0">
                <a:solidFill>
                  <a:srgbClr val="2222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RESEARCH QUESTIONS</a:t>
            </a:r>
            <a:endParaRPr lang="en-GB" sz="800" dirty="0">
              <a:solidFill>
                <a:srgbClr val="222222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E8D2B8E7-039B-1A09-2DDC-C83E14EB46DF}"/>
              </a:ext>
            </a:extLst>
          </p:cNvPr>
          <p:cNvSpPr/>
          <p:nvPr/>
        </p:nvSpPr>
        <p:spPr>
          <a:xfrm>
            <a:off x="3942433" y="4559182"/>
            <a:ext cx="72000" cy="216000"/>
          </a:xfrm>
          <a:prstGeom prst="rect">
            <a:avLst/>
          </a:prstGeom>
          <a:solidFill>
            <a:srgbClr val="FF595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222222"/>
              </a:solidFill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C12365C0-1DFD-9105-1FAE-06F580451ED3}"/>
              </a:ext>
            </a:extLst>
          </p:cNvPr>
          <p:cNvSpPr/>
          <p:nvPr/>
        </p:nvSpPr>
        <p:spPr>
          <a:xfrm>
            <a:off x="3942384" y="4811182"/>
            <a:ext cx="72000" cy="216000"/>
          </a:xfrm>
          <a:prstGeom prst="rect">
            <a:avLst/>
          </a:prstGeom>
          <a:solidFill>
            <a:srgbClr val="E683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222222"/>
              </a:solidFill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75EFEC79-3C2A-8CE1-D040-35A21318F4DF}"/>
              </a:ext>
            </a:extLst>
          </p:cNvPr>
          <p:cNvSpPr/>
          <p:nvPr/>
        </p:nvSpPr>
        <p:spPr>
          <a:xfrm>
            <a:off x="3942384" y="5063182"/>
            <a:ext cx="72000" cy="216000"/>
          </a:xfrm>
          <a:prstGeom prst="rect">
            <a:avLst/>
          </a:prstGeom>
          <a:solidFill>
            <a:srgbClr val="3F37C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222222"/>
              </a:solidFill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2E5BBF82-039A-99DB-1291-B984EF2722D0}"/>
              </a:ext>
            </a:extLst>
          </p:cNvPr>
          <p:cNvSpPr/>
          <p:nvPr/>
        </p:nvSpPr>
        <p:spPr>
          <a:xfrm>
            <a:off x="3941617" y="5610790"/>
            <a:ext cx="72000" cy="216000"/>
          </a:xfrm>
          <a:prstGeom prst="rect">
            <a:avLst/>
          </a:prstGeom>
          <a:solidFill>
            <a:srgbClr val="E683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222222"/>
              </a:solidFill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F1B50902-05E1-2214-2377-74DDCE112879}"/>
              </a:ext>
            </a:extLst>
          </p:cNvPr>
          <p:cNvSpPr/>
          <p:nvPr/>
        </p:nvSpPr>
        <p:spPr>
          <a:xfrm>
            <a:off x="3941617" y="5862790"/>
            <a:ext cx="72000" cy="216000"/>
          </a:xfrm>
          <a:prstGeom prst="rect">
            <a:avLst/>
          </a:prstGeom>
          <a:solidFill>
            <a:srgbClr val="3F37C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222222"/>
              </a:solidFill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B136B25A-C0BC-62CA-3885-7F8305C6C703}"/>
              </a:ext>
            </a:extLst>
          </p:cNvPr>
          <p:cNvSpPr/>
          <p:nvPr/>
        </p:nvSpPr>
        <p:spPr>
          <a:xfrm>
            <a:off x="225304" y="2103516"/>
            <a:ext cx="1260000" cy="1260000"/>
          </a:xfrm>
          <a:prstGeom prst="rect">
            <a:avLst/>
          </a:prstGeom>
          <a:noFill/>
          <a:ln w="28575">
            <a:solidFill>
              <a:srgbClr val="FF595E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0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D0E6682D-921D-2405-877D-EC86849DB85A}"/>
              </a:ext>
            </a:extLst>
          </p:cNvPr>
          <p:cNvSpPr/>
          <p:nvPr/>
        </p:nvSpPr>
        <p:spPr>
          <a:xfrm>
            <a:off x="1538503" y="2103516"/>
            <a:ext cx="1260000" cy="1260000"/>
          </a:xfrm>
          <a:prstGeom prst="rect">
            <a:avLst/>
          </a:prstGeom>
          <a:noFill/>
          <a:ln w="28575">
            <a:solidFill>
              <a:srgbClr val="E6830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0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DD14B712-37F6-3D77-C944-61E7F4FCA0AC}"/>
              </a:ext>
            </a:extLst>
          </p:cNvPr>
          <p:cNvSpPr/>
          <p:nvPr/>
        </p:nvSpPr>
        <p:spPr>
          <a:xfrm>
            <a:off x="2854142" y="2103516"/>
            <a:ext cx="1260000" cy="1260000"/>
          </a:xfrm>
          <a:prstGeom prst="rect">
            <a:avLst/>
          </a:prstGeom>
          <a:noFill/>
          <a:ln w="28575">
            <a:solidFill>
              <a:srgbClr val="3F37C9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0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0C95B8AD-5ACB-2E85-B61D-1A867AAB576F}"/>
              </a:ext>
            </a:extLst>
          </p:cNvPr>
          <p:cNvSpPr txBox="1"/>
          <p:nvPr/>
        </p:nvSpPr>
        <p:spPr>
          <a:xfrm>
            <a:off x="-40168" y="2122421"/>
            <a:ext cx="307777" cy="1255391"/>
          </a:xfrm>
          <a:prstGeom prst="rect">
            <a:avLst/>
          </a:prstGeom>
          <a:noFill/>
          <a:ln w="6350">
            <a:noFill/>
          </a:ln>
        </p:spPr>
        <p:txBody>
          <a:bodyPr vert="vert270" wrap="square" rtlCol="0">
            <a:spAutoFit/>
          </a:bodyPr>
          <a:lstStyle/>
          <a:p>
            <a:pPr algn="ctr"/>
            <a:r>
              <a:rPr lang="en-GB" sz="800" b="1" dirty="0">
                <a:solidFill>
                  <a:srgbClr val="2222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RESEARCH OBJECTIVES</a:t>
            </a:r>
            <a:endParaRPr lang="en-GB" sz="800" dirty="0">
              <a:solidFill>
                <a:srgbClr val="222222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D94A1280-B2A5-2EF1-0443-7D818E56F280}"/>
              </a:ext>
            </a:extLst>
          </p:cNvPr>
          <p:cNvSpPr txBox="1"/>
          <p:nvPr/>
        </p:nvSpPr>
        <p:spPr>
          <a:xfrm>
            <a:off x="207128" y="1118401"/>
            <a:ext cx="12963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rgbClr val="FF59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Can post-processed global NWP rainfall forecasts successfully identify areas at risk of flash floods up to medium-range lead times?</a:t>
            </a:r>
          </a:p>
          <a:p>
            <a:pPr algn="ctr"/>
            <a:r>
              <a:rPr lang="en-GB" sz="800" b="1" dirty="0">
                <a:solidFill>
                  <a:srgbClr val="FF595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(RQ1) 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59155F2D-DBF5-0F9C-EC3B-2ACFE1F662A9}"/>
              </a:ext>
            </a:extLst>
          </p:cNvPr>
          <p:cNvSpPr txBox="1"/>
          <p:nvPr/>
        </p:nvSpPr>
        <p:spPr>
          <a:xfrm>
            <a:off x="1520327" y="995290"/>
            <a:ext cx="129635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rgbClr val="E6830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Are medium-range data-driven hydro-met predictions of areas at risk of flash floods feasible with global reanalysis, forecasts, and impact flash flood reports?</a:t>
            </a:r>
          </a:p>
          <a:p>
            <a:pPr algn="ctr"/>
            <a:r>
              <a:rPr lang="en-US" sz="800" b="1" dirty="0">
                <a:solidFill>
                  <a:srgbClr val="E6830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(RQ2)</a:t>
            </a:r>
            <a:endParaRPr lang="en-GB" sz="800" b="1" dirty="0">
              <a:solidFill>
                <a:srgbClr val="E6830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750E6499-AEDD-05B1-0F02-F5A5C33BAA43}"/>
              </a:ext>
            </a:extLst>
          </p:cNvPr>
          <p:cNvSpPr txBox="1"/>
          <p:nvPr/>
        </p:nvSpPr>
        <p:spPr>
          <a:xfrm>
            <a:off x="2833526" y="995290"/>
            <a:ext cx="129031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rgbClr val="3F37C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How does coverage-density trade-off influence training data strategies to develop predictions of areas at risk of flash flood over a continuous global domain?</a:t>
            </a:r>
          </a:p>
          <a:p>
            <a:pPr algn="ctr"/>
            <a:r>
              <a:rPr lang="en-US" sz="800" b="1" dirty="0">
                <a:solidFill>
                  <a:srgbClr val="3F37C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(RQ3)</a:t>
            </a:r>
            <a:endParaRPr lang="en-GB" sz="800" b="1" dirty="0">
              <a:solidFill>
                <a:srgbClr val="3F37C9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8F4DA537-0D4E-E03E-39DA-66CE7C5FE401}"/>
              </a:ext>
            </a:extLst>
          </p:cNvPr>
          <p:cNvCxnSpPr>
            <a:cxnSpLocks/>
          </p:cNvCxnSpPr>
          <p:nvPr/>
        </p:nvCxnSpPr>
        <p:spPr>
          <a:xfrm>
            <a:off x="1085901" y="3385337"/>
            <a:ext cx="0" cy="144000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ACE6D9F3-EB36-1BD5-8A7E-99CD9D10560C}"/>
              </a:ext>
            </a:extLst>
          </p:cNvPr>
          <p:cNvCxnSpPr>
            <a:cxnSpLocks/>
          </p:cNvCxnSpPr>
          <p:nvPr/>
        </p:nvCxnSpPr>
        <p:spPr>
          <a:xfrm>
            <a:off x="1085901" y="3530575"/>
            <a:ext cx="853515" cy="0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8020075A-1311-D40B-BD85-6F9A64E11C56}"/>
              </a:ext>
            </a:extLst>
          </p:cNvPr>
          <p:cNvCxnSpPr>
            <a:cxnSpLocks/>
          </p:cNvCxnSpPr>
          <p:nvPr/>
        </p:nvCxnSpPr>
        <p:spPr>
          <a:xfrm>
            <a:off x="1933026" y="3385337"/>
            <a:ext cx="0" cy="144000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prstDash val="dash"/>
            <a:headEnd type="triangle" w="sm" len="sm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09A0C1BD-3D3B-E3C6-3948-678D5A5CF802}"/>
              </a:ext>
            </a:extLst>
          </p:cNvPr>
          <p:cNvCxnSpPr>
            <a:cxnSpLocks/>
          </p:cNvCxnSpPr>
          <p:nvPr/>
        </p:nvCxnSpPr>
        <p:spPr>
          <a:xfrm>
            <a:off x="606454" y="3385337"/>
            <a:ext cx="0" cy="199347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154DE8A6-BFF1-2EDC-31B3-7446721A1FB8}"/>
              </a:ext>
            </a:extLst>
          </p:cNvPr>
          <p:cNvCxnSpPr>
            <a:cxnSpLocks/>
          </p:cNvCxnSpPr>
          <p:nvPr/>
        </p:nvCxnSpPr>
        <p:spPr>
          <a:xfrm>
            <a:off x="606454" y="3584684"/>
            <a:ext cx="3067430" cy="0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9419413F-7795-06F8-CBB7-56A42002FDA1}"/>
              </a:ext>
            </a:extLst>
          </p:cNvPr>
          <p:cNvCxnSpPr>
            <a:cxnSpLocks/>
          </p:cNvCxnSpPr>
          <p:nvPr/>
        </p:nvCxnSpPr>
        <p:spPr>
          <a:xfrm>
            <a:off x="3674988" y="3385337"/>
            <a:ext cx="0" cy="199347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prstDash val="dash"/>
            <a:headEnd type="triangle" w="sm" len="sm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1146FC57-2FA1-53C7-5545-8FDB6D5C3215}"/>
              </a:ext>
            </a:extLst>
          </p:cNvPr>
          <p:cNvCxnSpPr>
            <a:cxnSpLocks/>
          </p:cNvCxnSpPr>
          <p:nvPr/>
        </p:nvCxnSpPr>
        <p:spPr>
          <a:xfrm>
            <a:off x="2367893" y="3385337"/>
            <a:ext cx="0" cy="144000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427443F8-2B4E-C566-491A-9FA06183A7D5}"/>
              </a:ext>
            </a:extLst>
          </p:cNvPr>
          <p:cNvCxnSpPr>
            <a:cxnSpLocks/>
          </p:cNvCxnSpPr>
          <p:nvPr/>
        </p:nvCxnSpPr>
        <p:spPr>
          <a:xfrm>
            <a:off x="2357406" y="3530575"/>
            <a:ext cx="840291" cy="0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4B91EACA-DA47-03EB-73DE-346CB0F28920}"/>
              </a:ext>
            </a:extLst>
          </p:cNvPr>
          <p:cNvCxnSpPr>
            <a:cxnSpLocks/>
          </p:cNvCxnSpPr>
          <p:nvPr/>
        </p:nvCxnSpPr>
        <p:spPr>
          <a:xfrm>
            <a:off x="3209200" y="3378419"/>
            <a:ext cx="0" cy="150918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prstDash val="dash"/>
            <a:headEnd type="triangle" w="sm" len="sm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C5F22480-43D2-EC6C-C595-536DDF09AC46}"/>
              </a:ext>
            </a:extLst>
          </p:cNvPr>
          <p:cNvSpPr txBox="1"/>
          <p:nvPr/>
        </p:nvSpPr>
        <p:spPr>
          <a:xfrm>
            <a:off x="1381568" y="4562708"/>
            <a:ext cx="25697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b="1" dirty="0">
                <a:solidFill>
                  <a:srgbClr val="2222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DATA-DRIVEN MODEL DEVELOPMENT STRATEGY </a:t>
            </a:r>
          </a:p>
          <a:p>
            <a:r>
              <a:rPr lang="en-GB" sz="1000" dirty="0">
                <a:solidFill>
                  <a:srgbClr val="222222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To develop hydro-met predictions of areas at risk of flash floods under imbalanced observational datasets.</a:t>
            </a:r>
          </a:p>
        </p:txBody>
      </p:sp>
    </p:spTree>
    <p:extLst>
      <p:ext uri="{BB962C8B-B14F-4D97-AF65-F5344CB8AC3E}">
        <p14:creationId xmlns:p14="http://schemas.microsoft.com/office/powerpoint/2010/main" val="42891106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250</Words>
  <Application>Microsoft Office PowerPoint</Application>
  <PresentationFormat>Custom</PresentationFormat>
  <Paragraphs>30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Fatima Pillosu</dc:creator>
  <cp:lastModifiedBy>Fatima Maria Pillosu</cp:lastModifiedBy>
  <cp:revision>3</cp:revision>
  <dcterms:created xsi:type="dcterms:W3CDTF">2025-04-07T14:41:43Z</dcterms:created>
  <dcterms:modified xsi:type="dcterms:W3CDTF">2026-01-20T12:31:36Z</dcterms:modified>
</cp:coreProperties>
</file>